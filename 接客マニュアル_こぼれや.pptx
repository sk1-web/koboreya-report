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0"/>
  </p:normalViewPr>
  <p:slideViewPr>
    <p:cSldViewPr snapToGrid="0" snapToObjects="1">
      <p:cViewPr varScale="1">
        <p:scale>
          <a:sx n="152" d="100"/>
          <a:sy n="152" d="100"/>
        </p:scale>
        <p:origin x="5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93776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937760" cy="9144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47488"/>
            <a:ext cx="493776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347472"/>
            <a:ext cx="4206240" cy="438912"/>
          </a:xfrm>
          <a:prstGeom prst="rect">
            <a:avLst/>
          </a:prstGeom>
          <a:noFill/>
        </p:spPr>
        <p:txBody>
          <a:bodyPr wrap="square" lIns="0" tIns="0" rIns="0" bIns="0">
            <a:spAutoFit/>
          </a:bodyPr>
          <a:lstStyle/>
          <a:p>
            <a:pPr algn="l"/>
            <a:r>
              <a:rPr sz="1200" b="0">
                <a:solidFill>
                  <a:srgbClr val="777777"/>
                </a:solidFill>
                <a:latin typeface="Meiryo"/>
              </a:rPr>
              <a:t>こ ぼ れ や</a:t>
            </a:r>
          </a:p>
        </p:txBody>
      </p:sp>
      <p:sp>
        <p:nvSpPr>
          <p:cNvPr id="6" name="TextBox 5"/>
          <p:cNvSpPr txBox="1"/>
          <p:nvPr/>
        </p:nvSpPr>
        <p:spPr>
          <a:xfrm>
            <a:off x="365760" y="841248"/>
            <a:ext cx="4389120" cy="868680"/>
          </a:xfrm>
          <a:prstGeom prst="rect">
            <a:avLst/>
          </a:prstGeom>
          <a:noFill/>
        </p:spPr>
        <p:txBody>
          <a:bodyPr wrap="square" lIns="0" tIns="0" rIns="0" bIns="0">
            <a:spAutoFit/>
          </a:bodyPr>
          <a:lstStyle/>
          <a:p>
            <a:pPr algn="l"/>
            <a:r>
              <a:rPr sz="3600" b="1">
                <a:solidFill>
                  <a:srgbClr val="212121"/>
                </a:solidFill>
                <a:latin typeface="Meiryo"/>
              </a:rPr>
              <a:t>接客マニュアル</a:t>
            </a:r>
          </a:p>
        </p:txBody>
      </p:sp>
      <p:sp>
        <p:nvSpPr>
          <p:cNvPr id="7" name="TextBox 6"/>
          <p:cNvSpPr txBox="1"/>
          <p:nvPr/>
        </p:nvSpPr>
        <p:spPr>
          <a:xfrm>
            <a:off x="365760" y="1783080"/>
            <a:ext cx="4389120" cy="512064"/>
          </a:xfrm>
          <a:prstGeom prst="rect">
            <a:avLst/>
          </a:prstGeom>
          <a:noFill/>
        </p:spPr>
        <p:txBody>
          <a:bodyPr wrap="square" lIns="0" tIns="0" rIns="0" bIns="0">
            <a:spAutoFit/>
          </a:bodyPr>
          <a:lstStyle/>
          <a:p>
            <a:pPr algn="l"/>
            <a:r>
              <a:rPr sz="1800" b="0">
                <a:solidFill>
                  <a:srgbClr val="D4A800"/>
                </a:solidFill>
                <a:latin typeface="Meiryo"/>
              </a:rPr>
              <a:t>基 礎 業 務 編</a:t>
            </a:r>
          </a:p>
        </p:txBody>
      </p:sp>
      <p:sp>
        <p:nvSpPr>
          <p:cNvPr id="8" name="Rectangle 7"/>
          <p:cNvSpPr/>
          <p:nvPr/>
        </p:nvSpPr>
        <p:spPr>
          <a:xfrm>
            <a:off x="365760" y="2450592"/>
            <a:ext cx="3840480" cy="3657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560320"/>
            <a:ext cx="4206240" cy="292608"/>
          </a:xfrm>
          <a:prstGeom prst="rect">
            <a:avLst/>
          </a:prstGeom>
          <a:noFill/>
        </p:spPr>
        <p:txBody>
          <a:bodyPr wrap="square" lIns="0" tIns="0" rIns="0" bIns="0">
            <a:spAutoFit/>
          </a:bodyPr>
          <a:lstStyle/>
          <a:p>
            <a:pPr algn="l"/>
            <a:r>
              <a:rPr sz="900" b="0">
                <a:solidFill>
                  <a:srgbClr val="777777"/>
                </a:solidFill>
                <a:latin typeface="Meiryo"/>
              </a:rPr>
              <a:t>株式会社 delta  トレーナーグループ</a:t>
            </a:r>
          </a:p>
        </p:txBody>
      </p:sp>
      <p:sp>
        <p:nvSpPr>
          <p:cNvPr id="10" name="TextBox 9"/>
          <p:cNvSpPr txBox="1"/>
          <p:nvPr/>
        </p:nvSpPr>
        <p:spPr>
          <a:xfrm>
            <a:off x="365760" y="4041648"/>
            <a:ext cx="1371600" cy="256032"/>
          </a:xfrm>
          <a:prstGeom prst="rect">
            <a:avLst/>
          </a:prstGeom>
          <a:noFill/>
        </p:spPr>
        <p:txBody>
          <a:bodyPr wrap="square" lIns="0" tIns="0" rIns="0" bIns="0">
            <a:spAutoFit/>
          </a:bodyPr>
          <a:lstStyle/>
          <a:p>
            <a:pPr algn="l"/>
            <a:r>
              <a:rPr sz="900" b="1">
                <a:solidFill>
                  <a:srgbClr val="212121"/>
                </a:solidFill>
                <a:latin typeface="Meiryo"/>
              </a:rPr>
              <a:t>NAME ：</a:t>
            </a:r>
          </a:p>
        </p:txBody>
      </p:sp>
      <p:sp>
        <p:nvSpPr>
          <p:cNvPr id="11" name="Rectangle 10"/>
          <p:cNvSpPr/>
          <p:nvPr/>
        </p:nvSpPr>
        <p:spPr>
          <a:xfrm>
            <a:off x="365760" y="4297680"/>
            <a:ext cx="3840480" cy="201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0" y="4407408"/>
            <a:ext cx="1371600" cy="256032"/>
          </a:xfrm>
          <a:prstGeom prst="rect">
            <a:avLst/>
          </a:prstGeom>
          <a:noFill/>
        </p:spPr>
        <p:txBody>
          <a:bodyPr wrap="square" lIns="0" tIns="0" rIns="0" bIns="0">
            <a:spAutoFit/>
          </a:bodyPr>
          <a:lstStyle/>
          <a:p>
            <a:pPr algn="r"/>
            <a:r>
              <a:rPr sz="1100" b="0">
                <a:solidFill>
                  <a:srgbClr val="D4A800"/>
                </a:solidFill>
                <a:latin typeface="Meiryo"/>
              </a:rPr>
              <a:t>2025</a:t>
            </a:r>
          </a:p>
        </p:txBody>
      </p:sp>
      <p:sp>
        <p:nvSpPr>
          <p:cNvPr id="13" name="Rectangle 12"/>
          <p:cNvSpPr/>
          <p:nvPr/>
        </p:nvSpPr>
        <p:spPr>
          <a:xfrm>
            <a:off x="4937760" y="0"/>
            <a:ext cx="4206240" cy="514350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937760" y="0"/>
            <a:ext cx="4206240" cy="9144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937760" y="5047488"/>
            <a:ext cx="4206240" cy="9601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74920" y="1005840"/>
            <a:ext cx="3840480" cy="1828800"/>
          </a:xfrm>
          <a:prstGeom prst="rect">
            <a:avLst/>
          </a:prstGeom>
          <a:noFill/>
        </p:spPr>
        <p:txBody>
          <a:bodyPr wrap="square" lIns="0" tIns="0" rIns="0" bIns="0">
            <a:spAutoFit/>
          </a:bodyPr>
          <a:lstStyle/>
          <a:p>
            <a:pPr algn="ctr"/>
            <a:r>
              <a:rPr sz="2000" b="1">
                <a:solidFill>
                  <a:srgbClr val="212121"/>
                </a:solidFill>
                <a:latin typeface="Meiryo"/>
              </a:rPr>
              <a:t>全てのお客様に
こぼれやの魅力を
伝え、魅了する。</a:t>
            </a:r>
          </a:p>
        </p:txBody>
      </p:sp>
      <p:sp>
        <p:nvSpPr>
          <p:cNvPr id="17" name="Rectangle 16"/>
          <p:cNvSpPr/>
          <p:nvPr/>
        </p:nvSpPr>
        <p:spPr>
          <a:xfrm>
            <a:off x="5760720" y="3017520"/>
            <a:ext cx="2560320" cy="36576"/>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74920" y="3154680"/>
            <a:ext cx="3840480" cy="365760"/>
          </a:xfrm>
          <a:prstGeom prst="rect">
            <a:avLst/>
          </a:prstGeom>
          <a:noFill/>
        </p:spPr>
        <p:txBody>
          <a:bodyPr wrap="square" lIns="0" tIns="0" rIns="0" bIns="0">
            <a:spAutoFit/>
          </a:bodyPr>
          <a:lstStyle/>
          <a:p>
            <a:pPr algn="ctr"/>
            <a:r>
              <a:rPr sz="950" b="0" dirty="0" err="1">
                <a:solidFill>
                  <a:srgbClr val="212121"/>
                </a:solidFill>
                <a:latin typeface="Meiryo"/>
              </a:rPr>
              <a:t>こぼれや</a:t>
            </a:r>
            <a:r>
              <a:rPr sz="950" b="0" dirty="0">
                <a:solidFill>
                  <a:srgbClr val="212121"/>
                </a:solidFill>
                <a:latin typeface="Meiryo"/>
              </a:rPr>
              <a:t>  </a:t>
            </a:r>
            <a:r>
              <a:rPr sz="950" b="0" dirty="0" err="1">
                <a:solidFill>
                  <a:srgbClr val="212121"/>
                </a:solidFill>
                <a:latin typeface="Meiryo"/>
              </a:rPr>
              <a:t>サービスミッション</a:t>
            </a:r>
            <a:endParaRPr sz="950" b="0" dirty="0">
              <a:solidFill>
                <a:srgbClr val="212121"/>
              </a:solidFill>
              <a:latin typeface="Meiry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2286000" cy="384048"/>
          </a:xfrm>
          <a:prstGeom prst="rect">
            <a:avLst/>
          </a:prstGeom>
          <a:noFill/>
        </p:spPr>
        <p:txBody>
          <a:bodyPr wrap="square" lIns="0" tIns="0" rIns="0" bIns="0">
            <a:spAutoFit/>
          </a:bodyPr>
          <a:lstStyle/>
          <a:p>
            <a:pPr algn="l"/>
            <a:r>
              <a:rPr sz="2000" b="1">
                <a:solidFill>
                  <a:srgbClr val="212121"/>
                </a:solidFill>
                <a:latin typeface="Meiryo"/>
              </a:rPr>
              <a:t>目次</a:t>
            </a:r>
          </a:p>
        </p:txBody>
      </p:sp>
      <p:sp>
        <p:nvSpPr>
          <p:cNvPr id="5" name="Rectangle 4"/>
          <p:cNvSpPr/>
          <p:nvPr/>
        </p:nvSpPr>
        <p:spPr>
          <a:xfrm>
            <a:off x="365760" y="530352"/>
            <a:ext cx="8412480" cy="3657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58368"/>
            <a:ext cx="420624" cy="27432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58368"/>
            <a:ext cx="420624" cy="274320"/>
          </a:xfrm>
          <a:prstGeom prst="rect">
            <a:avLst/>
          </a:prstGeom>
          <a:noFill/>
        </p:spPr>
        <p:txBody>
          <a:bodyPr wrap="square" lIns="0" tIns="0" rIns="0" bIns="0">
            <a:spAutoFit/>
          </a:bodyPr>
          <a:lstStyle/>
          <a:p>
            <a:pPr algn="ctr"/>
            <a:r>
              <a:rPr sz="1100" b="1">
                <a:solidFill>
                  <a:srgbClr val="FFFFFF"/>
                </a:solidFill>
                <a:latin typeface="Meiryo"/>
              </a:rPr>
              <a:t>01</a:t>
            </a:r>
          </a:p>
        </p:txBody>
      </p:sp>
      <p:sp>
        <p:nvSpPr>
          <p:cNvPr id="8" name="TextBox 7"/>
          <p:cNvSpPr txBox="1"/>
          <p:nvPr/>
        </p:nvSpPr>
        <p:spPr>
          <a:xfrm>
            <a:off x="932688" y="621792"/>
            <a:ext cx="7863840" cy="320040"/>
          </a:xfrm>
          <a:prstGeom prst="rect">
            <a:avLst/>
          </a:prstGeom>
          <a:noFill/>
        </p:spPr>
        <p:txBody>
          <a:bodyPr wrap="square" lIns="0" tIns="0" rIns="0" bIns="0">
            <a:spAutoFit/>
          </a:bodyPr>
          <a:lstStyle/>
          <a:p>
            <a:pPr algn="l"/>
            <a:r>
              <a:rPr sz="1300" b="1">
                <a:solidFill>
                  <a:srgbClr val="212121"/>
                </a:solidFill>
                <a:latin typeface="Meiryo"/>
              </a:rPr>
              <a:t>サービスミッション・ビジョン・コンセプト</a:t>
            </a:r>
          </a:p>
        </p:txBody>
      </p:sp>
      <p:sp>
        <p:nvSpPr>
          <p:cNvPr id="9" name="Rectangle 8"/>
          <p:cNvSpPr/>
          <p:nvPr/>
        </p:nvSpPr>
        <p:spPr>
          <a:xfrm>
            <a:off x="868680" y="969264"/>
            <a:ext cx="7955279" cy="731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078992"/>
            <a:ext cx="420624" cy="274320"/>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420624" cy="274320"/>
          </a:xfrm>
          <a:prstGeom prst="rect">
            <a:avLst/>
          </a:prstGeom>
          <a:noFill/>
        </p:spPr>
        <p:txBody>
          <a:bodyPr wrap="square" lIns="0" tIns="0" rIns="0" bIns="0">
            <a:spAutoFit/>
          </a:bodyPr>
          <a:lstStyle/>
          <a:p>
            <a:pPr algn="ctr"/>
            <a:r>
              <a:rPr sz="1100" b="1">
                <a:solidFill>
                  <a:srgbClr val="FFFFFF"/>
                </a:solidFill>
                <a:latin typeface="Meiryo"/>
              </a:rPr>
              <a:t>02</a:t>
            </a:r>
          </a:p>
        </p:txBody>
      </p:sp>
      <p:sp>
        <p:nvSpPr>
          <p:cNvPr id="12" name="TextBox 11"/>
          <p:cNvSpPr txBox="1"/>
          <p:nvPr/>
        </p:nvSpPr>
        <p:spPr>
          <a:xfrm>
            <a:off x="932688" y="1042416"/>
            <a:ext cx="7863840" cy="320040"/>
          </a:xfrm>
          <a:prstGeom prst="rect">
            <a:avLst/>
          </a:prstGeom>
          <a:noFill/>
        </p:spPr>
        <p:txBody>
          <a:bodyPr wrap="square" lIns="0" tIns="0" rIns="0" bIns="0">
            <a:spAutoFit/>
          </a:bodyPr>
          <a:lstStyle/>
          <a:p>
            <a:pPr algn="l"/>
            <a:r>
              <a:rPr sz="1300" b="1">
                <a:solidFill>
                  <a:srgbClr val="212121"/>
                </a:solidFill>
                <a:latin typeface="Meiryo"/>
              </a:rPr>
              <a:t>勤務ルール（勤怠・勤務態度・身だしなみ）</a:t>
            </a:r>
          </a:p>
        </p:txBody>
      </p:sp>
      <p:sp>
        <p:nvSpPr>
          <p:cNvPr id="13" name="Rectangle 12"/>
          <p:cNvSpPr/>
          <p:nvPr/>
        </p:nvSpPr>
        <p:spPr>
          <a:xfrm>
            <a:off x="868680" y="1389888"/>
            <a:ext cx="7955279" cy="731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1499616"/>
            <a:ext cx="420624" cy="27432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1499616"/>
            <a:ext cx="420624" cy="274320"/>
          </a:xfrm>
          <a:prstGeom prst="rect">
            <a:avLst/>
          </a:prstGeom>
          <a:noFill/>
        </p:spPr>
        <p:txBody>
          <a:bodyPr wrap="square" lIns="0" tIns="0" rIns="0" bIns="0">
            <a:spAutoFit/>
          </a:bodyPr>
          <a:lstStyle/>
          <a:p>
            <a:pPr algn="ctr"/>
            <a:r>
              <a:rPr sz="1100" b="1">
                <a:solidFill>
                  <a:srgbClr val="FFFFFF"/>
                </a:solidFill>
                <a:latin typeface="Meiryo"/>
              </a:rPr>
              <a:t>03</a:t>
            </a:r>
          </a:p>
        </p:txBody>
      </p:sp>
      <p:sp>
        <p:nvSpPr>
          <p:cNvPr id="16" name="TextBox 15"/>
          <p:cNvSpPr txBox="1"/>
          <p:nvPr/>
        </p:nvSpPr>
        <p:spPr>
          <a:xfrm>
            <a:off x="932688" y="1463040"/>
            <a:ext cx="7863840" cy="320040"/>
          </a:xfrm>
          <a:prstGeom prst="rect">
            <a:avLst/>
          </a:prstGeom>
          <a:noFill/>
        </p:spPr>
        <p:txBody>
          <a:bodyPr wrap="square" lIns="0" tIns="0" rIns="0" bIns="0">
            <a:spAutoFit/>
          </a:bodyPr>
          <a:lstStyle/>
          <a:p>
            <a:pPr algn="l"/>
            <a:r>
              <a:rPr sz="1300" b="1">
                <a:solidFill>
                  <a:srgbClr val="212121"/>
                </a:solidFill>
                <a:latin typeface="Meiryo"/>
              </a:rPr>
              <a:t>ランク別ロール定義</a:t>
            </a:r>
          </a:p>
        </p:txBody>
      </p:sp>
      <p:sp>
        <p:nvSpPr>
          <p:cNvPr id="17" name="Rectangle 16"/>
          <p:cNvSpPr/>
          <p:nvPr/>
        </p:nvSpPr>
        <p:spPr>
          <a:xfrm>
            <a:off x="868680" y="1810512"/>
            <a:ext cx="7955279" cy="731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1920240"/>
            <a:ext cx="420624" cy="274320"/>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1920240"/>
            <a:ext cx="420624" cy="274320"/>
          </a:xfrm>
          <a:prstGeom prst="rect">
            <a:avLst/>
          </a:prstGeom>
          <a:noFill/>
        </p:spPr>
        <p:txBody>
          <a:bodyPr wrap="square" lIns="0" tIns="0" rIns="0" bIns="0">
            <a:spAutoFit/>
          </a:bodyPr>
          <a:lstStyle/>
          <a:p>
            <a:pPr algn="ctr"/>
            <a:r>
              <a:rPr sz="1100" b="1">
                <a:solidFill>
                  <a:srgbClr val="FFFFFF"/>
                </a:solidFill>
                <a:latin typeface="Meiryo"/>
              </a:rPr>
              <a:t>04</a:t>
            </a:r>
          </a:p>
        </p:txBody>
      </p:sp>
      <p:sp>
        <p:nvSpPr>
          <p:cNvPr id="20" name="TextBox 19"/>
          <p:cNvSpPr txBox="1"/>
          <p:nvPr/>
        </p:nvSpPr>
        <p:spPr>
          <a:xfrm>
            <a:off x="932688" y="1883664"/>
            <a:ext cx="7863840" cy="320040"/>
          </a:xfrm>
          <a:prstGeom prst="rect">
            <a:avLst/>
          </a:prstGeom>
          <a:noFill/>
        </p:spPr>
        <p:txBody>
          <a:bodyPr wrap="square" lIns="0" tIns="0" rIns="0" bIns="0">
            <a:spAutoFit/>
          </a:bodyPr>
          <a:lstStyle/>
          <a:p>
            <a:pPr algn="l"/>
            <a:r>
              <a:rPr sz="1300" b="1">
                <a:solidFill>
                  <a:srgbClr val="212121"/>
                </a:solidFill>
                <a:latin typeface="Meiryo"/>
              </a:rPr>
              <a:t>ホール基本業務</a:t>
            </a:r>
          </a:p>
        </p:txBody>
      </p:sp>
      <p:sp>
        <p:nvSpPr>
          <p:cNvPr id="21" name="Rectangle 20"/>
          <p:cNvSpPr/>
          <p:nvPr/>
        </p:nvSpPr>
        <p:spPr>
          <a:xfrm>
            <a:off x="868680" y="2231136"/>
            <a:ext cx="7955279" cy="731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2304288"/>
            <a:ext cx="8229600" cy="237744"/>
          </a:xfrm>
          <a:prstGeom prst="rect">
            <a:avLst/>
          </a:prstGeom>
          <a:noFill/>
        </p:spPr>
        <p:txBody>
          <a:bodyPr wrap="square" lIns="0" tIns="0" rIns="0" bIns="0">
            <a:spAutoFit/>
          </a:bodyPr>
          <a:lstStyle/>
          <a:p>
            <a:pPr algn="l"/>
            <a:r>
              <a:rPr sz="900" b="0">
                <a:solidFill>
                  <a:srgbClr val="777777"/>
                </a:solidFill>
                <a:latin typeface="Meiryo"/>
              </a:rPr>
              <a:t>　来店対応 ／ 入店時説明 ／ 着席時説明 ／ 注文取り</a:t>
            </a:r>
          </a:p>
        </p:txBody>
      </p:sp>
      <p:sp>
        <p:nvSpPr>
          <p:cNvPr id="23" name="TextBox 22"/>
          <p:cNvSpPr txBox="1"/>
          <p:nvPr/>
        </p:nvSpPr>
        <p:spPr>
          <a:xfrm>
            <a:off x="932688" y="2551176"/>
            <a:ext cx="8229600" cy="237744"/>
          </a:xfrm>
          <a:prstGeom prst="rect">
            <a:avLst/>
          </a:prstGeom>
          <a:noFill/>
        </p:spPr>
        <p:txBody>
          <a:bodyPr wrap="square" lIns="0" tIns="0" rIns="0" bIns="0">
            <a:spAutoFit/>
          </a:bodyPr>
          <a:lstStyle/>
          <a:p>
            <a:pPr algn="l"/>
            <a:r>
              <a:rPr sz="900" b="0">
                <a:solidFill>
                  <a:srgbClr val="777777"/>
                </a:solidFill>
                <a:latin typeface="Meiryo"/>
              </a:rPr>
              <a:t>　提供 ／ 焼き（5箇条・日常会話・Google口コミ）</a:t>
            </a:r>
          </a:p>
        </p:txBody>
      </p:sp>
      <p:sp>
        <p:nvSpPr>
          <p:cNvPr id="24" name="TextBox 23"/>
          <p:cNvSpPr txBox="1"/>
          <p:nvPr/>
        </p:nvSpPr>
        <p:spPr>
          <a:xfrm>
            <a:off x="932688" y="2798064"/>
            <a:ext cx="8229600" cy="237744"/>
          </a:xfrm>
          <a:prstGeom prst="rect">
            <a:avLst/>
          </a:prstGeom>
          <a:noFill/>
        </p:spPr>
        <p:txBody>
          <a:bodyPr wrap="square" lIns="0" tIns="0" rIns="0" bIns="0">
            <a:spAutoFit/>
          </a:bodyPr>
          <a:lstStyle/>
          <a:p>
            <a:pPr algn="l"/>
            <a:r>
              <a:rPr sz="900" b="0">
                <a:solidFill>
                  <a:srgbClr val="777777"/>
                </a:solidFill>
                <a:latin typeface="Meiryo"/>
              </a:rPr>
              <a:t>　ラウンド ／ 鉄板共有 ／ ラストオーダー ／ お会計</a:t>
            </a:r>
          </a:p>
        </p:txBody>
      </p:sp>
      <p:sp>
        <p:nvSpPr>
          <p:cNvPr id="25" name="TextBox 24"/>
          <p:cNvSpPr txBox="1"/>
          <p:nvPr/>
        </p:nvSpPr>
        <p:spPr>
          <a:xfrm>
            <a:off x="932688" y="3044952"/>
            <a:ext cx="8229600" cy="237744"/>
          </a:xfrm>
          <a:prstGeom prst="rect">
            <a:avLst/>
          </a:prstGeom>
          <a:noFill/>
        </p:spPr>
        <p:txBody>
          <a:bodyPr wrap="square" lIns="0" tIns="0" rIns="0" bIns="0">
            <a:spAutoFit/>
          </a:bodyPr>
          <a:lstStyle/>
          <a:p>
            <a:pPr algn="l"/>
            <a:r>
              <a:rPr sz="900" b="0">
                <a:solidFill>
                  <a:srgbClr val="777777"/>
                </a:solidFill>
                <a:latin typeface="Meiryo"/>
              </a:rPr>
              <a:t>　お見送り ／ バッシング ／ テーブルセット</a:t>
            </a:r>
          </a:p>
        </p:txBody>
      </p:sp>
      <p:sp>
        <p:nvSpPr>
          <p:cNvPr id="26" name="Rectangle 25"/>
          <p:cNvSpPr/>
          <p:nvPr/>
        </p:nvSpPr>
        <p:spPr>
          <a:xfrm>
            <a:off x="365760" y="3328416"/>
            <a:ext cx="420624" cy="27432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3328416"/>
            <a:ext cx="420624" cy="274320"/>
          </a:xfrm>
          <a:prstGeom prst="rect">
            <a:avLst/>
          </a:prstGeom>
          <a:noFill/>
        </p:spPr>
        <p:txBody>
          <a:bodyPr wrap="square" lIns="0" tIns="0" rIns="0" bIns="0">
            <a:spAutoFit/>
          </a:bodyPr>
          <a:lstStyle/>
          <a:p>
            <a:pPr algn="ctr"/>
            <a:r>
              <a:rPr sz="1100" b="1">
                <a:solidFill>
                  <a:srgbClr val="FFFFFF"/>
                </a:solidFill>
                <a:latin typeface="Meiryo"/>
              </a:rPr>
              <a:t>05</a:t>
            </a:r>
          </a:p>
        </p:txBody>
      </p:sp>
      <p:sp>
        <p:nvSpPr>
          <p:cNvPr id="28" name="TextBox 27"/>
          <p:cNvSpPr txBox="1"/>
          <p:nvPr/>
        </p:nvSpPr>
        <p:spPr>
          <a:xfrm>
            <a:off x="932688" y="3291840"/>
            <a:ext cx="7863840" cy="320040"/>
          </a:xfrm>
          <a:prstGeom prst="rect">
            <a:avLst/>
          </a:prstGeom>
          <a:noFill/>
        </p:spPr>
        <p:txBody>
          <a:bodyPr wrap="square" lIns="0" tIns="0" rIns="0" bIns="0">
            <a:spAutoFit/>
          </a:bodyPr>
          <a:lstStyle/>
          <a:p>
            <a:pPr algn="l"/>
            <a:r>
              <a:rPr sz="1300" b="1">
                <a:solidFill>
                  <a:srgbClr val="212121"/>
                </a:solidFill>
                <a:latin typeface="Meiryo"/>
              </a:rPr>
              <a:t>こぼれやの5箇条・出汁の訴求・焼き時会話例</a:t>
            </a:r>
          </a:p>
        </p:txBody>
      </p:sp>
      <p:sp>
        <p:nvSpPr>
          <p:cNvPr id="29" name="Rectangle 28"/>
          <p:cNvSpPr/>
          <p:nvPr/>
        </p:nvSpPr>
        <p:spPr>
          <a:xfrm>
            <a:off x="868680" y="3639312"/>
            <a:ext cx="7955279" cy="731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4572000" cy="329184"/>
          </a:xfrm>
          <a:prstGeom prst="rect">
            <a:avLst/>
          </a:prstGeom>
          <a:noFill/>
        </p:spPr>
        <p:txBody>
          <a:bodyPr wrap="square" lIns="0" tIns="0" rIns="0" bIns="0">
            <a:spAutoFit/>
          </a:bodyPr>
          <a:lstStyle/>
          <a:p>
            <a:pPr algn="l"/>
            <a:r>
              <a:rPr sz="1100" b="1">
                <a:solidFill>
                  <a:srgbClr val="212121"/>
                </a:solidFill>
                <a:latin typeface="Meiryo"/>
              </a:rPr>
              <a:t>SECTION  01</a:t>
            </a:r>
          </a:p>
        </p:txBody>
      </p:sp>
      <p:sp>
        <p:nvSpPr>
          <p:cNvPr id="5" name="TextBox 4"/>
          <p:cNvSpPr txBox="1"/>
          <p:nvPr/>
        </p:nvSpPr>
        <p:spPr>
          <a:xfrm>
            <a:off x="502920" y="640080"/>
            <a:ext cx="6858000" cy="1828800"/>
          </a:xfrm>
          <a:prstGeom prst="rect">
            <a:avLst/>
          </a:prstGeom>
          <a:noFill/>
        </p:spPr>
        <p:txBody>
          <a:bodyPr wrap="square" lIns="0" tIns="0" rIns="0" bIns="0">
            <a:spAutoFit/>
          </a:bodyPr>
          <a:lstStyle/>
          <a:p>
            <a:pPr algn="l"/>
            <a:r>
              <a:rPr sz="3000" b="1">
                <a:solidFill>
                  <a:srgbClr val="212121"/>
                </a:solidFill>
                <a:latin typeface="Meiryo"/>
              </a:rPr>
              <a:t>サービスミッション
ビジョン・コンセプト</a:t>
            </a:r>
          </a:p>
        </p:txBody>
      </p:sp>
      <p:sp>
        <p:nvSpPr>
          <p:cNvPr id="6" name="Rectangle 5"/>
          <p:cNvSpPr/>
          <p:nvPr/>
        </p:nvSpPr>
        <p:spPr>
          <a:xfrm>
            <a:off x="502920" y="2788920"/>
            <a:ext cx="73152" cy="3200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88920"/>
            <a:ext cx="6858000" cy="438912"/>
          </a:xfrm>
          <a:prstGeom prst="rect">
            <a:avLst/>
          </a:prstGeom>
          <a:noFill/>
        </p:spPr>
        <p:txBody>
          <a:bodyPr wrap="square" lIns="0" tIns="0" rIns="0" bIns="0">
            <a:spAutoFit/>
          </a:bodyPr>
          <a:lstStyle/>
          <a:p>
            <a:pPr algn="l"/>
            <a:r>
              <a:rPr sz="1200" b="0">
                <a:solidFill>
                  <a:srgbClr val="212121"/>
                </a:solidFill>
                <a:latin typeface="Meiryo"/>
              </a:rPr>
              <a:t>こぼれやの想いと提供価値</a:t>
            </a:r>
          </a:p>
        </p:txBody>
      </p:sp>
      <p:sp>
        <p:nvSpPr>
          <p:cNvPr id="8" name="TextBox 7"/>
          <p:cNvSpPr txBox="1"/>
          <p:nvPr/>
        </p:nvSpPr>
        <p:spPr>
          <a:xfrm>
            <a:off x="5943600" y="2286000"/>
            <a:ext cx="3017520" cy="2560320"/>
          </a:xfrm>
          <a:prstGeom prst="rect">
            <a:avLst/>
          </a:prstGeom>
          <a:noFill/>
        </p:spPr>
        <p:txBody>
          <a:bodyPr wrap="square" lIns="0" tIns="0" rIns="0" bIns="0">
            <a:spAutoFit/>
          </a:bodyPr>
          <a:lstStyle/>
          <a:p>
            <a:pPr algn="r"/>
            <a:r>
              <a:rPr sz="8000" b="1">
                <a:solidFill>
                  <a:srgbClr val="D4A800"/>
                </a:solidFill>
                <a:latin typeface="Meiryo"/>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01</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サービスミッション・ビジョン・コンセプト</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サービスミッション・ビジョン・コンセプト</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59536"/>
            <a:ext cx="874166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86968"/>
            <a:ext cx="8503920" cy="192024"/>
          </a:xfrm>
          <a:prstGeom prst="rect">
            <a:avLst/>
          </a:prstGeom>
          <a:noFill/>
        </p:spPr>
        <p:txBody>
          <a:bodyPr wrap="square" lIns="0" tIns="0" rIns="0" bIns="0">
            <a:spAutoFit/>
          </a:bodyPr>
          <a:lstStyle/>
          <a:p>
            <a:pPr algn="l"/>
            <a:r>
              <a:rPr sz="1000" b="1">
                <a:solidFill>
                  <a:srgbClr val="FFFFFF"/>
                </a:solidFill>
                <a:latin typeface="Meiryo"/>
              </a:rPr>
              <a:t>ミッション</a:t>
            </a:r>
          </a:p>
        </p:txBody>
      </p:sp>
      <p:sp>
        <p:nvSpPr>
          <p:cNvPr id="11" name="Rectangle 10"/>
          <p:cNvSpPr/>
          <p:nvPr/>
        </p:nvSpPr>
        <p:spPr>
          <a:xfrm>
            <a:off x="201168" y="1115568"/>
            <a:ext cx="8741664" cy="4389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 y="1152144"/>
            <a:ext cx="8412480" cy="384048"/>
          </a:xfrm>
          <a:prstGeom prst="rect">
            <a:avLst/>
          </a:prstGeom>
          <a:noFill/>
        </p:spPr>
        <p:txBody>
          <a:bodyPr wrap="square" lIns="0" tIns="0" rIns="0" bIns="0">
            <a:spAutoFit/>
          </a:bodyPr>
          <a:lstStyle/>
          <a:p>
            <a:pPr algn="l"/>
            <a:r>
              <a:rPr sz="1600" b="1">
                <a:solidFill>
                  <a:srgbClr val="FCC800"/>
                </a:solidFill>
                <a:latin typeface="Meiryo"/>
              </a:rPr>
              <a:t>全てのお客様にこぼれやの魅力を伝え、魅了する。</a:t>
            </a:r>
          </a:p>
        </p:txBody>
      </p:sp>
      <p:sp>
        <p:nvSpPr>
          <p:cNvPr id="13" name="Rectangle 12"/>
          <p:cNvSpPr/>
          <p:nvPr/>
        </p:nvSpPr>
        <p:spPr>
          <a:xfrm>
            <a:off x="201168" y="1719072"/>
            <a:ext cx="8741664" cy="237744"/>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1746504"/>
            <a:ext cx="8503920" cy="192024"/>
          </a:xfrm>
          <a:prstGeom prst="rect">
            <a:avLst/>
          </a:prstGeom>
          <a:noFill/>
        </p:spPr>
        <p:txBody>
          <a:bodyPr wrap="square" lIns="0" tIns="0" rIns="0" bIns="0">
            <a:spAutoFit/>
          </a:bodyPr>
          <a:lstStyle/>
          <a:p>
            <a:pPr algn="l"/>
            <a:r>
              <a:rPr sz="1000" b="1">
                <a:solidFill>
                  <a:srgbClr val="FFFFFF"/>
                </a:solidFill>
                <a:latin typeface="Meiryo"/>
              </a:rPr>
              <a:t>ビジョン</a:t>
            </a:r>
          </a:p>
        </p:txBody>
      </p:sp>
      <p:sp>
        <p:nvSpPr>
          <p:cNvPr id="15" name="Rectangle 14"/>
          <p:cNvSpPr/>
          <p:nvPr/>
        </p:nvSpPr>
        <p:spPr>
          <a:xfrm>
            <a:off x="201168" y="1975104"/>
            <a:ext cx="8741664" cy="438912"/>
          </a:xfrm>
          <a:prstGeom prst="rect">
            <a:avLst/>
          </a:prstGeom>
          <a:solidFill>
            <a:srgbClr val="E8F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011679"/>
            <a:ext cx="8412480" cy="384048"/>
          </a:xfrm>
          <a:prstGeom prst="rect">
            <a:avLst/>
          </a:prstGeom>
          <a:noFill/>
        </p:spPr>
        <p:txBody>
          <a:bodyPr wrap="square" lIns="0" tIns="0" rIns="0" bIns="0">
            <a:spAutoFit/>
          </a:bodyPr>
          <a:lstStyle/>
          <a:p>
            <a:pPr algn="l"/>
            <a:r>
              <a:rPr sz="1400" b="1">
                <a:solidFill>
                  <a:srgbClr val="8EC31F"/>
                </a:solidFill>
                <a:latin typeface="Meiryo"/>
              </a:rPr>
              <a:t>唯一無二のこぼれやのもんじゃ焼きの魅力をお客様に届ける。</a:t>
            </a:r>
          </a:p>
        </p:txBody>
      </p:sp>
      <p:sp>
        <p:nvSpPr>
          <p:cNvPr id="17" name="Rectangle 16"/>
          <p:cNvSpPr/>
          <p:nvPr/>
        </p:nvSpPr>
        <p:spPr>
          <a:xfrm>
            <a:off x="201168" y="2578608"/>
            <a:ext cx="8741664" cy="237744"/>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 y="2596896"/>
            <a:ext cx="8503920" cy="201168"/>
          </a:xfrm>
          <a:prstGeom prst="rect">
            <a:avLst/>
          </a:prstGeom>
          <a:noFill/>
        </p:spPr>
        <p:txBody>
          <a:bodyPr wrap="square" lIns="0" tIns="0" rIns="0" bIns="0">
            <a:spAutoFit/>
          </a:bodyPr>
          <a:lstStyle/>
          <a:p>
            <a:pPr algn="l"/>
            <a:r>
              <a:rPr sz="1000" b="1">
                <a:solidFill>
                  <a:srgbClr val="FFFFFF"/>
                </a:solidFill>
                <a:latin typeface="Meiryo"/>
              </a:rPr>
              <a:t>コンセプト  [ ENJOY ]</a:t>
            </a:r>
          </a:p>
        </p:txBody>
      </p:sp>
      <p:sp>
        <p:nvSpPr>
          <p:cNvPr id="19" name="Rectangle 18"/>
          <p:cNvSpPr/>
          <p:nvPr/>
        </p:nvSpPr>
        <p:spPr>
          <a:xfrm>
            <a:off x="201168" y="2871216"/>
            <a:ext cx="8741664" cy="274320"/>
          </a:xfrm>
          <a:prstGeom prst="rect">
            <a:avLst/>
          </a:prstGeom>
          <a:solidFill>
            <a:srgbClr val="D0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46888" y="2944368"/>
            <a:ext cx="64008" cy="128016"/>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0624" y="2880360"/>
            <a:ext cx="8321040" cy="237744"/>
          </a:xfrm>
          <a:prstGeom prst="rect">
            <a:avLst/>
          </a:prstGeom>
          <a:noFill/>
        </p:spPr>
        <p:txBody>
          <a:bodyPr wrap="square" lIns="0" tIns="0" rIns="0" bIns="0">
            <a:spAutoFit/>
          </a:bodyPr>
          <a:lstStyle/>
          <a:p>
            <a:pPr algn="l"/>
            <a:r>
              <a:rPr sz="1100" b="0">
                <a:solidFill>
                  <a:srgbClr val="212121"/>
                </a:solidFill>
                <a:latin typeface="Meiryo"/>
              </a:rPr>
              <a:t>こぼれやで働くことを全力で楽しんで、店を活気に溢れさせる！</a:t>
            </a:r>
          </a:p>
        </p:txBody>
      </p:sp>
      <p:sp>
        <p:nvSpPr>
          <p:cNvPr id="22" name="Rectangle 21"/>
          <p:cNvSpPr/>
          <p:nvPr/>
        </p:nvSpPr>
        <p:spPr>
          <a:xfrm>
            <a:off x="201168" y="3154680"/>
            <a:ext cx="874166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46888" y="3227832"/>
            <a:ext cx="64008" cy="128016"/>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0624" y="3163824"/>
            <a:ext cx="8321040" cy="237744"/>
          </a:xfrm>
          <a:prstGeom prst="rect">
            <a:avLst/>
          </a:prstGeom>
          <a:noFill/>
        </p:spPr>
        <p:txBody>
          <a:bodyPr wrap="square" lIns="0" tIns="0" rIns="0" bIns="0">
            <a:spAutoFit/>
          </a:bodyPr>
          <a:lstStyle/>
          <a:p>
            <a:pPr algn="l"/>
            <a:r>
              <a:rPr sz="1100" b="0">
                <a:solidFill>
                  <a:srgbClr val="212121"/>
                </a:solidFill>
                <a:latin typeface="Meiryo"/>
              </a:rPr>
              <a:t>お客様と話すことを全力で楽しんで、お客様を楽しませる！</a:t>
            </a:r>
          </a:p>
        </p:txBody>
      </p:sp>
      <p:sp>
        <p:nvSpPr>
          <p:cNvPr id="25" name="Rectangle 24"/>
          <p:cNvSpPr/>
          <p:nvPr/>
        </p:nvSpPr>
        <p:spPr>
          <a:xfrm>
            <a:off x="201168" y="3438144"/>
            <a:ext cx="8741664" cy="274320"/>
          </a:xfrm>
          <a:prstGeom prst="rect">
            <a:avLst/>
          </a:prstGeom>
          <a:solidFill>
            <a:srgbClr val="D0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46888" y="3511296"/>
            <a:ext cx="64008" cy="128016"/>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0624" y="3447288"/>
            <a:ext cx="8321040" cy="237744"/>
          </a:xfrm>
          <a:prstGeom prst="rect">
            <a:avLst/>
          </a:prstGeom>
          <a:noFill/>
        </p:spPr>
        <p:txBody>
          <a:bodyPr wrap="square" lIns="0" tIns="0" rIns="0" bIns="0">
            <a:spAutoFit/>
          </a:bodyPr>
          <a:lstStyle/>
          <a:p>
            <a:pPr algn="l"/>
            <a:r>
              <a:rPr sz="1100" b="0">
                <a:solidFill>
                  <a:srgbClr val="212121"/>
                </a:solidFill>
                <a:latin typeface="Meiryo"/>
              </a:rPr>
              <a:t>仲間と一緒に働くことを全力で楽しんで、仲間を楽しませる！</a:t>
            </a:r>
          </a:p>
        </p:txBody>
      </p:sp>
      <p:sp>
        <p:nvSpPr>
          <p:cNvPr id="28" name="Rectangle 27"/>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01</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サービスの3つの柱</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サービスの3つの柱</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82880" y="841248"/>
            <a:ext cx="2907792" cy="24688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 y="868680"/>
            <a:ext cx="2816352" cy="201168"/>
          </a:xfrm>
          <a:prstGeom prst="rect">
            <a:avLst/>
          </a:prstGeom>
          <a:noFill/>
        </p:spPr>
        <p:txBody>
          <a:bodyPr wrap="square" lIns="0" tIns="0" rIns="0" bIns="0">
            <a:spAutoFit/>
          </a:bodyPr>
          <a:lstStyle/>
          <a:p>
            <a:pPr algn="ctr"/>
            <a:r>
              <a:rPr sz="1000" b="1">
                <a:solidFill>
                  <a:srgbClr val="FFFFFF"/>
                </a:solidFill>
                <a:latin typeface="Meiryo"/>
              </a:rPr>
              <a:t>1. クリーン</a:t>
            </a:r>
          </a:p>
        </p:txBody>
      </p:sp>
      <p:sp>
        <p:nvSpPr>
          <p:cNvPr id="11" name="Rectangle 10"/>
          <p:cNvSpPr/>
          <p:nvPr/>
        </p:nvSpPr>
        <p:spPr>
          <a:xfrm>
            <a:off x="292608" y="1207008"/>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1133856"/>
            <a:ext cx="2615184" cy="329184"/>
          </a:xfrm>
          <a:prstGeom prst="rect">
            <a:avLst/>
          </a:prstGeom>
          <a:noFill/>
        </p:spPr>
        <p:txBody>
          <a:bodyPr wrap="square" lIns="0" tIns="0" rIns="0" bIns="0">
            <a:spAutoFit/>
          </a:bodyPr>
          <a:lstStyle/>
          <a:p>
            <a:pPr algn="l"/>
            <a:r>
              <a:rPr sz="850" b="0">
                <a:solidFill>
                  <a:srgbClr val="212121"/>
                </a:solidFill>
                <a:latin typeface="Meiryo"/>
              </a:rPr>
              <a:t>お客様の目に映るところはいつもきれいに！</a:t>
            </a:r>
          </a:p>
        </p:txBody>
      </p:sp>
      <p:sp>
        <p:nvSpPr>
          <p:cNvPr id="13" name="Rectangle 12"/>
          <p:cNvSpPr/>
          <p:nvPr/>
        </p:nvSpPr>
        <p:spPr>
          <a:xfrm>
            <a:off x="292608" y="1536192"/>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6" y="1463039"/>
            <a:ext cx="2615184" cy="329184"/>
          </a:xfrm>
          <a:prstGeom prst="rect">
            <a:avLst/>
          </a:prstGeom>
          <a:noFill/>
        </p:spPr>
        <p:txBody>
          <a:bodyPr wrap="square" lIns="0" tIns="0" rIns="0" bIns="0">
            <a:spAutoFit/>
          </a:bodyPr>
          <a:lstStyle/>
          <a:p>
            <a:pPr algn="l"/>
            <a:r>
              <a:rPr sz="850" b="0">
                <a:solidFill>
                  <a:srgbClr val="212121"/>
                </a:solidFill>
                <a:latin typeface="Meiryo"/>
              </a:rPr>
              <a:t>テーブル・椅子・鉄板・おかもちを常に確認</a:t>
            </a:r>
          </a:p>
        </p:txBody>
      </p:sp>
      <p:sp>
        <p:nvSpPr>
          <p:cNvPr id="15" name="Rectangle 14"/>
          <p:cNvSpPr/>
          <p:nvPr/>
        </p:nvSpPr>
        <p:spPr>
          <a:xfrm>
            <a:off x="292608" y="1865375"/>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2336" y="1792223"/>
            <a:ext cx="2615184" cy="329184"/>
          </a:xfrm>
          <a:prstGeom prst="rect">
            <a:avLst/>
          </a:prstGeom>
          <a:noFill/>
        </p:spPr>
        <p:txBody>
          <a:bodyPr wrap="square" lIns="0" tIns="0" rIns="0" bIns="0">
            <a:spAutoFit/>
          </a:bodyPr>
          <a:lstStyle/>
          <a:p>
            <a:pPr algn="l"/>
            <a:r>
              <a:rPr sz="850" b="0">
                <a:solidFill>
                  <a:srgbClr val="212121"/>
                </a:solidFill>
                <a:latin typeface="Meiryo"/>
              </a:rPr>
              <a:t>清潔な状態を常に保つ</a:t>
            </a:r>
          </a:p>
        </p:txBody>
      </p:sp>
      <p:sp>
        <p:nvSpPr>
          <p:cNvPr id="17" name="Rectangle 16"/>
          <p:cNvSpPr/>
          <p:nvPr/>
        </p:nvSpPr>
        <p:spPr>
          <a:xfrm>
            <a:off x="3145536"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72968" y="841248"/>
            <a:ext cx="2907792" cy="24688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46120" y="868680"/>
            <a:ext cx="2816352" cy="201168"/>
          </a:xfrm>
          <a:prstGeom prst="rect">
            <a:avLst/>
          </a:prstGeom>
          <a:noFill/>
        </p:spPr>
        <p:txBody>
          <a:bodyPr wrap="square" lIns="0" tIns="0" rIns="0" bIns="0">
            <a:spAutoFit/>
          </a:bodyPr>
          <a:lstStyle/>
          <a:p>
            <a:pPr algn="ctr"/>
            <a:r>
              <a:rPr sz="1000" b="1">
                <a:solidFill>
                  <a:srgbClr val="FFFFFF"/>
                </a:solidFill>
                <a:latin typeface="Meiryo"/>
              </a:rPr>
              <a:t>2. ホスピタリティ</a:t>
            </a:r>
          </a:p>
        </p:txBody>
      </p:sp>
      <p:sp>
        <p:nvSpPr>
          <p:cNvPr id="20" name="Rectangle 19"/>
          <p:cNvSpPr/>
          <p:nvPr/>
        </p:nvSpPr>
        <p:spPr>
          <a:xfrm>
            <a:off x="3282696" y="1207008"/>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92424" y="1133856"/>
            <a:ext cx="2615184" cy="329184"/>
          </a:xfrm>
          <a:prstGeom prst="rect">
            <a:avLst/>
          </a:prstGeom>
          <a:noFill/>
        </p:spPr>
        <p:txBody>
          <a:bodyPr wrap="square" lIns="0" tIns="0" rIns="0" bIns="0">
            <a:spAutoFit/>
          </a:bodyPr>
          <a:lstStyle/>
          <a:p>
            <a:pPr algn="l"/>
            <a:r>
              <a:rPr sz="850" b="0">
                <a:solidFill>
                  <a:srgbClr val="212121"/>
                </a:solidFill>
                <a:latin typeface="Meiryo"/>
              </a:rPr>
              <a:t>お客様の立場に立ち、思いやりの気持ちで対応！</a:t>
            </a:r>
          </a:p>
        </p:txBody>
      </p:sp>
      <p:sp>
        <p:nvSpPr>
          <p:cNvPr id="22" name="Rectangle 21"/>
          <p:cNvSpPr/>
          <p:nvPr/>
        </p:nvSpPr>
        <p:spPr>
          <a:xfrm>
            <a:off x="3282696" y="1536192"/>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92424" y="1463039"/>
            <a:ext cx="2615184" cy="329184"/>
          </a:xfrm>
          <a:prstGeom prst="rect">
            <a:avLst/>
          </a:prstGeom>
          <a:noFill/>
        </p:spPr>
        <p:txBody>
          <a:bodyPr wrap="square" lIns="0" tIns="0" rIns="0" bIns="0">
            <a:spAutoFit/>
          </a:bodyPr>
          <a:lstStyle/>
          <a:p>
            <a:pPr algn="l"/>
            <a:r>
              <a:rPr sz="850" b="0">
                <a:solidFill>
                  <a:srgbClr val="212121"/>
                </a:solidFill>
                <a:latin typeface="Meiryo"/>
              </a:rPr>
              <a:t>先を読んで動く</a:t>
            </a:r>
          </a:p>
        </p:txBody>
      </p:sp>
      <p:sp>
        <p:nvSpPr>
          <p:cNvPr id="24" name="Rectangle 23"/>
          <p:cNvSpPr/>
          <p:nvPr/>
        </p:nvSpPr>
        <p:spPr>
          <a:xfrm>
            <a:off x="3282696" y="1865375"/>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92424" y="1792223"/>
            <a:ext cx="2615184" cy="329184"/>
          </a:xfrm>
          <a:prstGeom prst="rect">
            <a:avLst/>
          </a:prstGeom>
          <a:noFill/>
        </p:spPr>
        <p:txBody>
          <a:bodyPr wrap="square" lIns="0" tIns="0" rIns="0" bIns="0">
            <a:spAutoFit/>
          </a:bodyPr>
          <a:lstStyle/>
          <a:p>
            <a:pPr algn="l"/>
            <a:r>
              <a:rPr sz="850" b="0">
                <a:solidFill>
                  <a:srgbClr val="212121"/>
                </a:solidFill>
                <a:latin typeface="Meiryo"/>
              </a:rPr>
              <a:t>笑顔・声かけを大切に</a:t>
            </a:r>
          </a:p>
        </p:txBody>
      </p:sp>
      <p:sp>
        <p:nvSpPr>
          <p:cNvPr id="26" name="Rectangle 25"/>
          <p:cNvSpPr/>
          <p:nvPr/>
        </p:nvSpPr>
        <p:spPr>
          <a:xfrm>
            <a:off x="6135624"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63056" y="841248"/>
            <a:ext cx="2907792" cy="24688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36208" y="868680"/>
            <a:ext cx="2816352" cy="201168"/>
          </a:xfrm>
          <a:prstGeom prst="rect">
            <a:avLst/>
          </a:prstGeom>
          <a:noFill/>
        </p:spPr>
        <p:txBody>
          <a:bodyPr wrap="square" lIns="0" tIns="0" rIns="0" bIns="0">
            <a:spAutoFit/>
          </a:bodyPr>
          <a:lstStyle/>
          <a:p>
            <a:pPr algn="ctr"/>
            <a:r>
              <a:rPr sz="1000" b="1">
                <a:solidFill>
                  <a:srgbClr val="FFFFFF"/>
                </a:solidFill>
                <a:latin typeface="Meiryo"/>
              </a:rPr>
              <a:t>3. アクション</a:t>
            </a:r>
          </a:p>
        </p:txBody>
      </p:sp>
      <p:sp>
        <p:nvSpPr>
          <p:cNvPr id="29" name="Rectangle 28"/>
          <p:cNvSpPr/>
          <p:nvPr/>
        </p:nvSpPr>
        <p:spPr>
          <a:xfrm>
            <a:off x="6272784" y="1207008"/>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82512" y="1133856"/>
            <a:ext cx="2615184" cy="329184"/>
          </a:xfrm>
          <a:prstGeom prst="rect">
            <a:avLst/>
          </a:prstGeom>
          <a:noFill/>
        </p:spPr>
        <p:txBody>
          <a:bodyPr wrap="square" lIns="0" tIns="0" rIns="0" bIns="0">
            <a:spAutoFit/>
          </a:bodyPr>
          <a:lstStyle/>
          <a:p>
            <a:pPr algn="l"/>
            <a:r>
              <a:rPr sz="850" b="0">
                <a:solidFill>
                  <a:srgbClr val="212121"/>
                </a:solidFill>
                <a:latin typeface="Meiryo"/>
              </a:rPr>
              <a:t>こぼれやの魅力を伝え素敵な空間を作る！</a:t>
            </a:r>
          </a:p>
        </p:txBody>
      </p:sp>
      <p:sp>
        <p:nvSpPr>
          <p:cNvPr id="31" name="Rectangle 30"/>
          <p:cNvSpPr/>
          <p:nvPr/>
        </p:nvSpPr>
        <p:spPr>
          <a:xfrm>
            <a:off x="6272784" y="1536192"/>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1463039"/>
            <a:ext cx="2615184" cy="329184"/>
          </a:xfrm>
          <a:prstGeom prst="rect">
            <a:avLst/>
          </a:prstGeom>
          <a:noFill/>
        </p:spPr>
        <p:txBody>
          <a:bodyPr wrap="square" lIns="0" tIns="0" rIns="0" bIns="0">
            <a:spAutoFit/>
          </a:bodyPr>
          <a:lstStyle/>
          <a:p>
            <a:pPr algn="l"/>
            <a:r>
              <a:rPr sz="850" b="0">
                <a:solidFill>
                  <a:srgbClr val="212121"/>
                </a:solidFill>
                <a:latin typeface="Meiryo"/>
              </a:rPr>
              <a:t>5箇条の訴求</a:t>
            </a:r>
          </a:p>
        </p:txBody>
      </p:sp>
      <p:sp>
        <p:nvSpPr>
          <p:cNvPr id="33" name="Rectangle 32"/>
          <p:cNvSpPr/>
          <p:nvPr/>
        </p:nvSpPr>
        <p:spPr>
          <a:xfrm>
            <a:off x="6272784" y="1865375"/>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82512" y="1792223"/>
            <a:ext cx="2615184" cy="329184"/>
          </a:xfrm>
          <a:prstGeom prst="rect">
            <a:avLst/>
          </a:prstGeom>
          <a:noFill/>
        </p:spPr>
        <p:txBody>
          <a:bodyPr wrap="square" lIns="0" tIns="0" rIns="0" bIns="0">
            <a:spAutoFit/>
          </a:bodyPr>
          <a:lstStyle/>
          <a:p>
            <a:pPr algn="l"/>
            <a:r>
              <a:rPr sz="850" b="0">
                <a:solidFill>
                  <a:srgbClr val="212121"/>
                </a:solidFill>
                <a:latin typeface="Meiryo"/>
              </a:rPr>
              <a:t>Google口コミ獲得</a:t>
            </a:r>
          </a:p>
        </p:txBody>
      </p:sp>
      <p:sp>
        <p:nvSpPr>
          <p:cNvPr id="35" name="Rectangle 3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4572000" cy="329184"/>
          </a:xfrm>
          <a:prstGeom prst="rect">
            <a:avLst/>
          </a:prstGeom>
          <a:noFill/>
        </p:spPr>
        <p:txBody>
          <a:bodyPr wrap="square" lIns="0" tIns="0" rIns="0" bIns="0">
            <a:spAutoFit/>
          </a:bodyPr>
          <a:lstStyle/>
          <a:p>
            <a:pPr algn="l"/>
            <a:r>
              <a:rPr sz="1100" b="1">
                <a:solidFill>
                  <a:srgbClr val="212121"/>
                </a:solidFill>
                <a:latin typeface="Meiryo"/>
              </a:rPr>
              <a:t>SECTION  02</a:t>
            </a:r>
          </a:p>
        </p:txBody>
      </p:sp>
      <p:sp>
        <p:nvSpPr>
          <p:cNvPr id="5" name="TextBox 4"/>
          <p:cNvSpPr txBox="1"/>
          <p:nvPr/>
        </p:nvSpPr>
        <p:spPr>
          <a:xfrm>
            <a:off x="502920" y="640080"/>
            <a:ext cx="6858000" cy="1828800"/>
          </a:xfrm>
          <a:prstGeom prst="rect">
            <a:avLst/>
          </a:prstGeom>
          <a:noFill/>
        </p:spPr>
        <p:txBody>
          <a:bodyPr wrap="square" lIns="0" tIns="0" rIns="0" bIns="0">
            <a:spAutoFit/>
          </a:bodyPr>
          <a:lstStyle/>
          <a:p>
            <a:pPr algn="l"/>
            <a:r>
              <a:rPr sz="3000" b="1">
                <a:solidFill>
                  <a:srgbClr val="212121"/>
                </a:solidFill>
                <a:latin typeface="Meiryo"/>
              </a:rPr>
              <a:t>勤務ルール</a:t>
            </a:r>
          </a:p>
        </p:txBody>
      </p:sp>
      <p:sp>
        <p:nvSpPr>
          <p:cNvPr id="6" name="Rectangle 5"/>
          <p:cNvSpPr/>
          <p:nvPr/>
        </p:nvSpPr>
        <p:spPr>
          <a:xfrm>
            <a:off x="502920" y="2788920"/>
            <a:ext cx="73152" cy="3200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88920"/>
            <a:ext cx="6858000" cy="438912"/>
          </a:xfrm>
          <a:prstGeom prst="rect">
            <a:avLst/>
          </a:prstGeom>
          <a:noFill/>
        </p:spPr>
        <p:txBody>
          <a:bodyPr wrap="square" lIns="0" tIns="0" rIns="0" bIns="0">
            <a:spAutoFit/>
          </a:bodyPr>
          <a:lstStyle/>
          <a:p>
            <a:pPr algn="l"/>
            <a:r>
              <a:rPr sz="1200" b="0">
                <a:solidFill>
                  <a:srgbClr val="212121"/>
                </a:solidFill>
                <a:latin typeface="Meiryo"/>
              </a:rPr>
              <a:t>勤怠・勤務態度・身だしなみ</a:t>
            </a:r>
          </a:p>
        </p:txBody>
      </p:sp>
      <p:sp>
        <p:nvSpPr>
          <p:cNvPr id="8" name="TextBox 7"/>
          <p:cNvSpPr txBox="1"/>
          <p:nvPr/>
        </p:nvSpPr>
        <p:spPr>
          <a:xfrm>
            <a:off x="5943600" y="2286000"/>
            <a:ext cx="3017520" cy="2560320"/>
          </a:xfrm>
          <a:prstGeom prst="rect">
            <a:avLst/>
          </a:prstGeom>
          <a:noFill/>
        </p:spPr>
        <p:txBody>
          <a:bodyPr wrap="square" lIns="0" tIns="0" rIns="0" bIns="0">
            <a:spAutoFit/>
          </a:bodyPr>
          <a:lstStyle/>
          <a:p>
            <a:pPr algn="r"/>
            <a:r>
              <a:rPr sz="8000" b="1">
                <a:solidFill>
                  <a:srgbClr val="D4A800"/>
                </a:solidFill>
                <a:latin typeface="Meiryo"/>
              </a:rPr>
              <a:t>02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02</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勤怠ルール</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勤怠ルール</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41248"/>
            <a:ext cx="4187952" cy="24688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68680"/>
            <a:ext cx="4096512" cy="201168"/>
          </a:xfrm>
          <a:prstGeom prst="rect">
            <a:avLst/>
          </a:prstGeom>
          <a:noFill/>
        </p:spPr>
        <p:txBody>
          <a:bodyPr wrap="square" lIns="0" tIns="0" rIns="0" bIns="0">
            <a:spAutoFit/>
          </a:bodyPr>
          <a:lstStyle/>
          <a:p>
            <a:pPr algn="l"/>
            <a:r>
              <a:rPr sz="1000" b="1">
                <a:solidFill>
                  <a:srgbClr val="FFFFFF"/>
                </a:solidFill>
                <a:latin typeface="Meiryo"/>
              </a:rPr>
              <a:t>シフト・勤怠入力</a:t>
            </a:r>
          </a:p>
        </p:txBody>
      </p:sp>
      <p:sp>
        <p:nvSpPr>
          <p:cNvPr id="11" name="Rectangle 10"/>
          <p:cNvSpPr/>
          <p:nvPr/>
        </p:nvSpPr>
        <p:spPr>
          <a:xfrm>
            <a:off x="201168" y="1152144"/>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152144"/>
            <a:ext cx="4041648" cy="201168"/>
          </a:xfrm>
          <a:prstGeom prst="rect">
            <a:avLst/>
          </a:prstGeom>
          <a:noFill/>
        </p:spPr>
        <p:txBody>
          <a:bodyPr wrap="square" lIns="0" tIns="0" rIns="0" bIns="0">
            <a:spAutoFit/>
          </a:bodyPr>
          <a:lstStyle/>
          <a:p>
            <a:pPr algn="l"/>
            <a:r>
              <a:rPr sz="900" b="1">
                <a:solidFill>
                  <a:srgbClr val="00A0E9"/>
                </a:solidFill>
                <a:latin typeface="Meiryo"/>
              </a:rPr>
              <a:t>シフト申請</a:t>
            </a:r>
          </a:p>
        </p:txBody>
      </p:sp>
      <p:sp>
        <p:nvSpPr>
          <p:cNvPr id="13" name="Rectangle 12"/>
          <p:cNvSpPr/>
          <p:nvPr/>
        </p:nvSpPr>
        <p:spPr>
          <a:xfrm>
            <a:off x="292608" y="1435608"/>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1362456"/>
            <a:ext cx="3931920" cy="301752"/>
          </a:xfrm>
          <a:prstGeom prst="rect">
            <a:avLst/>
          </a:prstGeom>
          <a:noFill/>
        </p:spPr>
        <p:txBody>
          <a:bodyPr wrap="square" lIns="0" tIns="0" rIns="0" bIns="0">
            <a:spAutoFit/>
          </a:bodyPr>
          <a:lstStyle/>
          <a:p>
            <a:pPr algn="l"/>
            <a:r>
              <a:rPr sz="850" b="0">
                <a:solidFill>
                  <a:srgbClr val="212121"/>
                </a:solidFill>
                <a:latin typeface="Meiryo"/>
              </a:rPr>
              <a:t>1日〜15日分：前月10日までにジョブカンで申請</a:t>
            </a:r>
          </a:p>
        </p:txBody>
      </p:sp>
      <p:sp>
        <p:nvSpPr>
          <p:cNvPr id="15" name="Rectangle 14"/>
          <p:cNvSpPr/>
          <p:nvPr/>
        </p:nvSpPr>
        <p:spPr>
          <a:xfrm>
            <a:off x="292608" y="1728216"/>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1655064"/>
            <a:ext cx="3931920" cy="301752"/>
          </a:xfrm>
          <a:prstGeom prst="rect">
            <a:avLst/>
          </a:prstGeom>
          <a:noFill/>
        </p:spPr>
        <p:txBody>
          <a:bodyPr wrap="square" lIns="0" tIns="0" rIns="0" bIns="0">
            <a:spAutoFit/>
          </a:bodyPr>
          <a:lstStyle/>
          <a:p>
            <a:pPr algn="l"/>
            <a:r>
              <a:rPr sz="850" b="0">
                <a:solidFill>
                  <a:srgbClr val="212121"/>
                </a:solidFill>
                <a:latin typeface="Meiryo"/>
              </a:rPr>
              <a:t>16日〜末日分：前月25日までにジョブカンで申請</a:t>
            </a:r>
          </a:p>
        </p:txBody>
      </p:sp>
      <p:sp>
        <p:nvSpPr>
          <p:cNvPr id="17" name="Rectangle 16"/>
          <p:cNvSpPr/>
          <p:nvPr/>
        </p:nvSpPr>
        <p:spPr>
          <a:xfrm>
            <a:off x="292608" y="2020824"/>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1947672"/>
            <a:ext cx="3931920" cy="301752"/>
          </a:xfrm>
          <a:prstGeom prst="rect">
            <a:avLst/>
          </a:prstGeom>
          <a:noFill/>
        </p:spPr>
        <p:txBody>
          <a:bodyPr wrap="square" lIns="0" tIns="0" rIns="0" bIns="0">
            <a:spAutoFit/>
          </a:bodyPr>
          <a:lstStyle/>
          <a:p>
            <a:pPr algn="l"/>
            <a:r>
              <a:rPr sz="850" b="0">
                <a:solidFill>
                  <a:srgbClr val="212121"/>
                </a:solidFill>
                <a:latin typeface="Meiryo"/>
              </a:rPr>
              <a:t>提出期限厳守。遅れる場合は事前に店長に報告</a:t>
            </a:r>
          </a:p>
        </p:txBody>
      </p:sp>
      <p:sp>
        <p:nvSpPr>
          <p:cNvPr id="19" name="Rectangle 18"/>
          <p:cNvSpPr/>
          <p:nvPr/>
        </p:nvSpPr>
        <p:spPr>
          <a:xfrm>
            <a:off x="201168" y="2258568"/>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2258568"/>
            <a:ext cx="4041648" cy="201168"/>
          </a:xfrm>
          <a:prstGeom prst="rect">
            <a:avLst/>
          </a:prstGeom>
          <a:noFill/>
        </p:spPr>
        <p:txBody>
          <a:bodyPr wrap="square" lIns="0" tIns="0" rIns="0" bIns="0">
            <a:spAutoFit/>
          </a:bodyPr>
          <a:lstStyle/>
          <a:p>
            <a:pPr algn="l"/>
            <a:r>
              <a:rPr sz="900" b="1">
                <a:solidFill>
                  <a:srgbClr val="00A0E9"/>
                </a:solidFill>
                <a:latin typeface="Meiryo"/>
              </a:rPr>
              <a:t>勤怠打刻</a:t>
            </a:r>
          </a:p>
        </p:txBody>
      </p:sp>
      <p:sp>
        <p:nvSpPr>
          <p:cNvPr id="21" name="Rectangle 20"/>
          <p:cNvSpPr/>
          <p:nvPr/>
        </p:nvSpPr>
        <p:spPr>
          <a:xfrm>
            <a:off x="292608" y="2542032"/>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2468879"/>
            <a:ext cx="3931920" cy="301752"/>
          </a:xfrm>
          <a:prstGeom prst="rect">
            <a:avLst/>
          </a:prstGeom>
          <a:noFill/>
        </p:spPr>
        <p:txBody>
          <a:bodyPr wrap="square" lIns="0" tIns="0" rIns="0" bIns="0">
            <a:spAutoFit/>
          </a:bodyPr>
          <a:lstStyle/>
          <a:p>
            <a:pPr algn="l"/>
            <a:r>
              <a:rPr sz="850" b="0">
                <a:solidFill>
                  <a:srgbClr val="212121"/>
                </a:solidFill>
                <a:latin typeface="Meiryo"/>
              </a:rPr>
              <a:t>出勤・退勤・休憩開始・終了はジョブカンで打刻</a:t>
            </a:r>
          </a:p>
        </p:txBody>
      </p:sp>
      <p:sp>
        <p:nvSpPr>
          <p:cNvPr id="23" name="Rectangle 22"/>
          <p:cNvSpPr/>
          <p:nvPr/>
        </p:nvSpPr>
        <p:spPr>
          <a:xfrm>
            <a:off x="292608" y="2834639"/>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2761487"/>
            <a:ext cx="3931920" cy="301752"/>
          </a:xfrm>
          <a:prstGeom prst="rect">
            <a:avLst/>
          </a:prstGeom>
          <a:noFill/>
        </p:spPr>
        <p:txBody>
          <a:bodyPr wrap="square" lIns="0" tIns="0" rIns="0" bIns="0">
            <a:spAutoFit/>
          </a:bodyPr>
          <a:lstStyle/>
          <a:p>
            <a:pPr algn="l"/>
            <a:r>
              <a:rPr sz="850" b="0">
                <a:solidFill>
                  <a:srgbClr val="212121"/>
                </a:solidFill>
                <a:latin typeface="Meiryo"/>
              </a:rPr>
              <a:t>打刻漏れ時はジョブカンで打刻申請を行う</a:t>
            </a:r>
          </a:p>
        </p:txBody>
      </p:sp>
      <p:sp>
        <p:nvSpPr>
          <p:cNvPr id="25" name="Rectangle 24"/>
          <p:cNvSpPr/>
          <p:nvPr/>
        </p:nvSpPr>
        <p:spPr>
          <a:xfrm>
            <a:off x="201168" y="3072383"/>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3072383"/>
            <a:ext cx="4041648" cy="201168"/>
          </a:xfrm>
          <a:prstGeom prst="rect">
            <a:avLst/>
          </a:prstGeom>
          <a:noFill/>
        </p:spPr>
        <p:txBody>
          <a:bodyPr wrap="square" lIns="0" tIns="0" rIns="0" bIns="0">
            <a:spAutoFit/>
          </a:bodyPr>
          <a:lstStyle/>
          <a:p>
            <a:pPr algn="l"/>
            <a:r>
              <a:rPr sz="900" b="1">
                <a:solidFill>
                  <a:srgbClr val="00A0E9"/>
                </a:solidFill>
                <a:latin typeface="Meiryo"/>
              </a:rPr>
              <a:t>休憩</a:t>
            </a:r>
          </a:p>
        </p:txBody>
      </p:sp>
      <p:sp>
        <p:nvSpPr>
          <p:cNvPr id="27" name="Rectangle 26"/>
          <p:cNvSpPr/>
          <p:nvPr/>
        </p:nvSpPr>
        <p:spPr>
          <a:xfrm>
            <a:off x="292608" y="3355847"/>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3282695"/>
            <a:ext cx="3931920" cy="301752"/>
          </a:xfrm>
          <a:prstGeom prst="rect">
            <a:avLst/>
          </a:prstGeom>
          <a:noFill/>
        </p:spPr>
        <p:txBody>
          <a:bodyPr wrap="square" lIns="0" tIns="0" rIns="0" bIns="0">
            <a:spAutoFit/>
          </a:bodyPr>
          <a:lstStyle/>
          <a:p>
            <a:pPr algn="l"/>
            <a:r>
              <a:rPr sz="850" b="0">
                <a:solidFill>
                  <a:srgbClr val="212121"/>
                </a:solidFill>
                <a:latin typeface="Meiryo"/>
              </a:rPr>
              <a:t>6時間超 → 45分以上、8時間超 → 60分以上</a:t>
            </a:r>
          </a:p>
        </p:txBody>
      </p:sp>
      <p:sp>
        <p:nvSpPr>
          <p:cNvPr id="29" name="Rectangle 28"/>
          <p:cNvSpPr/>
          <p:nvPr/>
        </p:nvSpPr>
        <p:spPr>
          <a:xfrm>
            <a:off x="4681728" y="841248"/>
            <a:ext cx="4187952" cy="24688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0" y="868680"/>
            <a:ext cx="4096512" cy="201168"/>
          </a:xfrm>
          <a:prstGeom prst="rect">
            <a:avLst/>
          </a:prstGeom>
          <a:noFill/>
        </p:spPr>
        <p:txBody>
          <a:bodyPr wrap="square" lIns="0" tIns="0" rIns="0" bIns="0">
            <a:spAutoFit/>
          </a:bodyPr>
          <a:lstStyle/>
          <a:p>
            <a:pPr algn="l"/>
            <a:r>
              <a:rPr sz="1000" b="1">
                <a:solidFill>
                  <a:srgbClr val="FFFFFF"/>
                </a:solidFill>
                <a:latin typeface="Meiryo"/>
              </a:rPr>
              <a:t>欠勤・早退・遅刻の対応</a:t>
            </a:r>
          </a:p>
        </p:txBody>
      </p:sp>
      <p:sp>
        <p:nvSpPr>
          <p:cNvPr id="31" name="Rectangle 30"/>
          <p:cNvSpPr/>
          <p:nvPr/>
        </p:nvSpPr>
        <p:spPr>
          <a:xfrm>
            <a:off x="4681728" y="1152144"/>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0" y="1152144"/>
            <a:ext cx="4041648" cy="201168"/>
          </a:xfrm>
          <a:prstGeom prst="rect">
            <a:avLst/>
          </a:prstGeom>
          <a:noFill/>
        </p:spPr>
        <p:txBody>
          <a:bodyPr wrap="square" lIns="0" tIns="0" rIns="0" bIns="0">
            <a:spAutoFit/>
          </a:bodyPr>
          <a:lstStyle/>
          <a:p>
            <a:pPr algn="l"/>
            <a:r>
              <a:rPr sz="900" b="1">
                <a:solidFill>
                  <a:srgbClr val="8EC31F"/>
                </a:solidFill>
                <a:latin typeface="Meiryo"/>
              </a:rPr>
              <a:t>欠勤の流れ</a:t>
            </a:r>
          </a:p>
        </p:txBody>
      </p:sp>
      <p:sp>
        <p:nvSpPr>
          <p:cNvPr id="33" name="Rectangle 32"/>
          <p:cNvSpPr/>
          <p:nvPr/>
        </p:nvSpPr>
        <p:spPr>
          <a:xfrm>
            <a:off x="4773168" y="1435608"/>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92040" y="1362456"/>
            <a:ext cx="3931920" cy="301752"/>
          </a:xfrm>
          <a:prstGeom prst="rect">
            <a:avLst/>
          </a:prstGeom>
          <a:noFill/>
        </p:spPr>
        <p:txBody>
          <a:bodyPr wrap="square" lIns="0" tIns="0" rIns="0" bIns="0">
            <a:spAutoFit/>
          </a:bodyPr>
          <a:lstStyle/>
          <a:p>
            <a:pPr algn="l"/>
            <a:r>
              <a:rPr sz="850" b="0">
                <a:solidFill>
                  <a:srgbClr val="212121"/>
                </a:solidFill>
                <a:latin typeface="Meiryo"/>
              </a:rPr>
              <a:t>① 当日の店舗営業責任者に連絡する</a:t>
            </a:r>
          </a:p>
        </p:txBody>
      </p:sp>
      <p:sp>
        <p:nvSpPr>
          <p:cNvPr id="35" name="Rectangle 34"/>
          <p:cNvSpPr/>
          <p:nvPr/>
        </p:nvSpPr>
        <p:spPr>
          <a:xfrm>
            <a:off x="4773168" y="1728216"/>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1655064"/>
            <a:ext cx="3931920" cy="301752"/>
          </a:xfrm>
          <a:prstGeom prst="rect">
            <a:avLst/>
          </a:prstGeom>
          <a:noFill/>
        </p:spPr>
        <p:txBody>
          <a:bodyPr wrap="square" lIns="0" tIns="0" rIns="0" bIns="0">
            <a:spAutoFit/>
          </a:bodyPr>
          <a:lstStyle/>
          <a:p>
            <a:pPr algn="l"/>
            <a:r>
              <a:rPr sz="850" b="0">
                <a:solidFill>
                  <a:srgbClr val="212121"/>
                </a:solidFill>
                <a:latin typeface="Meiryo"/>
              </a:rPr>
              <a:t>② 自分で代わりを探す（全体LINEは不可）</a:t>
            </a:r>
          </a:p>
        </p:txBody>
      </p:sp>
      <p:sp>
        <p:nvSpPr>
          <p:cNvPr id="37" name="Rectangle 36"/>
          <p:cNvSpPr/>
          <p:nvPr/>
        </p:nvSpPr>
        <p:spPr>
          <a:xfrm>
            <a:off x="4773168" y="2020824"/>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92040" y="1947672"/>
            <a:ext cx="3931920" cy="301752"/>
          </a:xfrm>
          <a:prstGeom prst="rect">
            <a:avLst/>
          </a:prstGeom>
          <a:noFill/>
        </p:spPr>
        <p:txBody>
          <a:bodyPr wrap="square" lIns="0" tIns="0" rIns="0" bIns="0">
            <a:spAutoFit/>
          </a:bodyPr>
          <a:lstStyle/>
          <a:p>
            <a:pPr algn="l"/>
            <a:r>
              <a:rPr sz="850" b="0">
                <a:solidFill>
                  <a:srgbClr val="212121"/>
                </a:solidFill>
                <a:latin typeface="Meiryo"/>
              </a:rPr>
              <a:t>③ 見つかった場合 → 誰が代わるかを報告</a:t>
            </a:r>
          </a:p>
        </p:txBody>
      </p:sp>
      <p:sp>
        <p:nvSpPr>
          <p:cNvPr id="39" name="Rectangle 38"/>
          <p:cNvSpPr/>
          <p:nvPr/>
        </p:nvSpPr>
        <p:spPr>
          <a:xfrm>
            <a:off x="4773168" y="2313432"/>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92040" y="2240279"/>
            <a:ext cx="3931920" cy="301752"/>
          </a:xfrm>
          <a:prstGeom prst="rect">
            <a:avLst/>
          </a:prstGeom>
          <a:noFill/>
        </p:spPr>
        <p:txBody>
          <a:bodyPr wrap="square" lIns="0" tIns="0" rIns="0" bIns="0">
            <a:spAutoFit/>
          </a:bodyPr>
          <a:lstStyle/>
          <a:p>
            <a:pPr algn="l"/>
            <a:r>
              <a:rPr sz="850" b="0">
                <a:solidFill>
                  <a:srgbClr val="212121"/>
                </a:solidFill>
                <a:latin typeface="Meiryo"/>
              </a:rPr>
              <a:t>④ 見つからなかった場合 → その旨を報告</a:t>
            </a:r>
          </a:p>
        </p:txBody>
      </p:sp>
      <p:sp>
        <p:nvSpPr>
          <p:cNvPr id="41" name="Rectangle 40"/>
          <p:cNvSpPr/>
          <p:nvPr/>
        </p:nvSpPr>
        <p:spPr>
          <a:xfrm>
            <a:off x="4681728" y="2551175"/>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80" y="2551175"/>
            <a:ext cx="4041648" cy="201168"/>
          </a:xfrm>
          <a:prstGeom prst="rect">
            <a:avLst/>
          </a:prstGeom>
          <a:noFill/>
        </p:spPr>
        <p:txBody>
          <a:bodyPr wrap="square" lIns="0" tIns="0" rIns="0" bIns="0">
            <a:spAutoFit/>
          </a:bodyPr>
          <a:lstStyle/>
          <a:p>
            <a:pPr algn="l"/>
            <a:r>
              <a:rPr sz="900" b="1">
                <a:solidFill>
                  <a:srgbClr val="8EC31F"/>
                </a:solidFill>
                <a:latin typeface="Meiryo"/>
              </a:rPr>
              <a:t>早退・遅刻の対応</a:t>
            </a:r>
          </a:p>
        </p:txBody>
      </p:sp>
      <p:sp>
        <p:nvSpPr>
          <p:cNvPr id="43" name="Rectangle 42"/>
          <p:cNvSpPr/>
          <p:nvPr/>
        </p:nvSpPr>
        <p:spPr>
          <a:xfrm>
            <a:off x="4773168" y="2834639"/>
            <a:ext cx="54864" cy="109728"/>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92040" y="2761487"/>
            <a:ext cx="3931920" cy="301752"/>
          </a:xfrm>
          <a:prstGeom prst="rect">
            <a:avLst/>
          </a:prstGeom>
          <a:noFill/>
        </p:spPr>
        <p:txBody>
          <a:bodyPr wrap="square" lIns="0" tIns="0" rIns="0" bIns="0">
            <a:spAutoFit/>
          </a:bodyPr>
          <a:lstStyle/>
          <a:p>
            <a:pPr algn="l"/>
            <a:r>
              <a:rPr sz="850" b="0">
                <a:solidFill>
                  <a:srgbClr val="212121"/>
                </a:solidFill>
                <a:latin typeface="Meiryo"/>
              </a:rPr>
              <a:t>当日の店舗営業責任者に報告し、指示に従う</a:t>
            </a:r>
          </a:p>
        </p:txBody>
      </p:sp>
      <p:sp>
        <p:nvSpPr>
          <p:cNvPr id="45" name="Rectangle 44"/>
          <p:cNvSpPr/>
          <p:nvPr/>
        </p:nvSpPr>
        <p:spPr>
          <a:xfrm>
            <a:off x="4645152"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02</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勤務態度・賄いルール</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勤務態度・賄いルール</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41248"/>
            <a:ext cx="4187952" cy="24688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68680"/>
            <a:ext cx="4096512" cy="201168"/>
          </a:xfrm>
          <a:prstGeom prst="rect">
            <a:avLst/>
          </a:prstGeom>
          <a:noFill/>
        </p:spPr>
        <p:txBody>
          <a:bodyPr wrap="square" lIns="0" tIns="0" rIns="0" bIns="0">
            <a:spAutoFit/>
          </a:bodyPr>
          <a:lstStyle/>
          <a:p>
            <a:pPr algn="l"/>
            <a:r>
              <a:rPr sz="1000" b="1">
                <a:solidFill>
                  <a:srgbClr val="FFFFFF"/>
                </a:solidFill>
                <a:latin typeface="Meiryo"/>
              </a:rPr>
              <a:t>基本マナー</a:t>
            </a:r>
          </a:p>
        </p:txBody>
      </p:sp>
      <p:sp>
        <p:nvSpPr>
          <p:cNvPr id="11" name="Rectangle 10"/>
          <p:cNvSpPr/>
          <p:nvPr/>
        </p:nvSpPr>
        <p:spPr>
          <a:xfrm>
            <a:off x="201168" y="1152144"/>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152144"/>
            <a:ext cx="4041648" cy="201168"/>
          </a:xfrm>
          <a:prstGeom prst="rect">
            <a:avLst/>
          </a:prstGeom>
          <a:noFill/>
        </p:spPr>
        <p:txBody>
          <a:bodyPr wrap="square" lIns="0" tIns="0" rIns="0" bIns="0">
            <a:spAutoFit/>
          </a:bodyPr>
          <a:lstStyle/>
          <a:p>
            <a:pPr algn="l"/>
            <a:r>
              <a:rPr sz="900" b="1">
                <a:solidFill>
                  <a:srgbClr val="00A0E9"/>
                </a:solidFill>
                <a:latin typeface="Meiryo"/>
              </a:rPr>
              <a:t>出退勤</a:t>
            </a:r>
          </a:p>
        </p:txBody>
      </p:sp>
      <p:sp>
        <p:nvSpPr>
          <p:cNvPr id="13" name="Rectangle 12"/>
          <p:cNvSpPr/>
          <p:nvPr/>
        </p:nvSpPr>
        <p:spPr>
          <a:xfrm>
            <a:off x="292608" y="1435608"/>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1362456"/>
            <a:ext cx="3931920" cy="301752"/>
          </a:xfrm>
          <a:prstGeom prst="rect">
            <a:avLst/>
          </a:prstGeom>
          <a:noFill/>
        </p:spPr>
        <p:txBody>
          <a:bodyPr wrap="square" lIns="0" tIns="0" rIns="0" bIns="0">
            <a:spAutoFit/>
          </a:bodyPr>
          <a:lstStyle/>
          <a:p>
            <a:pPr algn="l"/>
            <a:r>
              <a:rPr sz="850" b="0">
                <a:solidFill>
                  <a:srgbClr val="212121"/>
                </a:solidFill>
                <a:latin typeface="Meiryo"/>
              </a:rPr>
              <a:t>勤務時間には店舗内に到着していること</a:t>
            </a:r>
          </a:p>
        </p:txBody>
      </p:sp>
      <p:sp>
        <p:nvSpPr>
          <p:cNvPr id="15" name="Rectangle 14"/>
          <p:cNvSpPr/>
          <p:nvPr/>
        </p:nvSpPr>
        <p:spPr>
          <a:xfrm>
            <a:off x="292608" y="1728216"/>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1655064"/>
            <a:ext cx="3931920" cy="301752"/>
          </a:xfrm>
          <a:prstGeom prst="rect">
            <a:avLst/>
          </a:prstGeom>
          <a:noFill/>
        </p:spPr>
        <p:txBody>
          <a:bodyPr wrap="square" lIns="0" tIns="0" rIns="0" bIns="0">
            <a:spAutoFit/>
          </a:bodyPr>
          <a:lstStyle/>
          <a:p>
            <a:pPr algn="l"/>
            <a:r>
              <a:rPr sz="850" b="0">
                <a:solidFill>
                  <a:srgbClr val="212121"/>
                </a:solidFill>
                <a:latin typeface="Meiryo"/>
              </a:rPr>
              <a:t>出勤時：「おはようございます」と挨拶</a:t>
            </a:r>
          </a:p>
        </p:txBody>
      </p:sp>
      <p:sp>
        <p:nvSpPr>
          <p:cNvPr id="17" name="Rectangle 16"/>
          <p:cNvSpPr/>
          <p:nvPr/>
        </p:nvSpPr>
        <p:spPr>
          <a:xfrm>
            <a:off x="292608" y="2020824"/>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1947672"/>
            <a:ext cx="3931920" cy="301752"/>
          </a:xfrm>
          <a:prstGeom prst="rect">
            <a:avLst/>
          </a:prstGeom>
          <a:noFill/>
        </p:spPr>
        <p:txBody>
          <a:bodyPr wrap="square" lIns="0" tIns="0" rIns="0" bIns="0">
            <a:spAutoFit/>
          </a:bodyPr>
          <a:lstStyle/>
          <a:p>
            <a:pPr algn="l"/>
            <a:r>
              <a:rPr sz="850" b="0">
                <a:solidFill>
                  <a:srgbClr val="212121"/>
                </a:solidFill>
                <a:latin typeface="Meiryo"/>
              </a:rPr>
              <a:t>退勤時：「お疲れ様です」と挨拶</a:t>
            </a:r>
          </a:p>
        </p:txBody>
      </p:sp>
      <p:sp>
        <p:nvSpPr>
          <p:cNvPr id="19" name="Rectangle 18"/>
          <p:cNvSpPr/>
          <p:nvPr/>
        </p:nvSpPr>
        <p:spPr>
          <a:xfrm>
            <a:off x="201168" y="2258568"/>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2258568"/>
            <a:ext cx="4041648" cy="201168"/>
          </a:xfrm>
          <a:prstGeom prst="rect">
            <a:avLst/>
          </a:prstGeom>
          <a:noFill/>
        </p:spPr>
        <p:txBody>
          <a:bodyPr wrap="square" lIns="0" tIns="0" rIns="0" bIns="0">
            <a:spAutoFit/>
          </a:bodyPr>
          <a:lstStyle/>
          <a:p>
            <a:pPr algn="l"/>
            <a:r>
              <a:rPr sz="900" b="1">
                <a:solidFill>
                  <a:srgbClr val="00A0E9"/>
                </a:solidFill>
                <a:latin typeface="Meiryo"/>
              </a:rPr>
              <a:t>携帯電話</a:t>
            </a:r>
          </a:p>
        </p:txBody>
      </p:sp>
      <p:sp>
        <p:nvSpPr>
          <p:cNvPr id="21" name="Rectangle 20"/>
          <p:cNvSpPr/>
          <p:nvPr/>
        </p:nvSpPr>
        <p:spPr>
          <a:xfrm>
            <a:off x="292608" y="2542032"/>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2468879"/>
            <a:ext cx="3931920" cy="301752"/>
          </a:xfrm>
          <a:prstGeom prst="rect">
            <a:avLst/>
          </a:prstGeom>
          <a:noFill/>
        </p:spPr>
        <p:txBody>
          <a:bodyPr wrap="square" lIns="0" tIns="0" rIns="0" bIns="0">
            <a:spAutoFit/>
          </a:bodyPr>
          <a:lstStyle/>
          <a:p>
            <a:pPr algn="l"/>
            <a:r>
              <a:rPr sz="850" b="0">
                <a:solidFill>
                  <a:srgbClr val="212121"/>
                </a:solidFill>
                <a:latin typeface="Meiryo"/>
              </a:rPr>
              <a:t>業務中の私的利用は原則禁止</a:t>
            </a:r>
          </a:p>
        </p:txBody>
      </p:sp>
      <p:sp>
        <p:nvSpPr>
          <p:cNvPr id="23" name="Rectangle 22"/>
          <p:cNvSpPr/>
          <p:nvPr/>
        </p:nvSpPr>
        <p:spPr>
          <a:xfrm>
            <a:off x="292608" y="2834639"/>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2761487"/>
            <a:ext cx="3931920" cy="301752"/>
          </a:xfrm>
          <a:prstGeom prst="rect">
            <a:avLst/>
          </a:prstGeom>
          <a:noFill/>
        </p:spPr>
        <p:txBody>
          <a:bodyPr wrap="square" lIns="0" tIns="0" rIns="0" bIns="0">
            <a:spAutoFit/>
          </a:bodyPr>
          <a:lstStyle/>
          <a:p>
            <a:pPr algn="l"/>
            <a:r>
              <a:rPr sz="850" b="0">
                <a:solidFill>
                  <a:srgbClr val="212121"/>
                </a:solidFill>
                <a:latin typeface="Meiryo"/>
              </a:rPr>
              <a:t>Google口コミ確認などの業務利用は可</a:t>
            </a:r>
          </a:p>
        </p:txBody>
      </p:sp>
      <p:sp>
        <p:nvSpPr>
          <p:cNvPr id="25" name="Rectangle 24"/>
          <p:cNvSpPr/>
          <p:nvPr/>
        </p:nvSpPr>
        <p:spPr>
          <a:xfrm>
            <a:off x="201168" y="3072383"/>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3072383"/>
            <a:ext cx="4041648" cy="201168"/>
          </a:xfrm>
          <a:prstGeom prst="rect">
            <a:avLst/>
          </a:prstGeom>
          <a:noFill/>
        </p:spPr>
        <p:txBody>
          <a:bodyPr wrap="square" lIns="0" tIns="0" rIns="0" bIns="0">
            <a:spAutoFit/>
          </a:bodyPr>
          <a:lstStyle/>
          <a:p>
            <a:pPr algn="l"/>
            <a:r>
              <a:rPr sz="900" b="1">
                <a:solidFill>
                  <a:srgbClr val="00A0E9"/>
                </a:solidFill>
                <a:latin typeface="Meiryo"/>
              </a:rPr>
              <a:t>言葉遣い</a:t>
            </a:r>
          </a:p>
        </p:txBody>
      </p:sp>
      <p:sp>
        <p:nvSpPr>
          <p:cNvPr id="27" name="Rectangle 26"/>
          <p:cNvSpPr/>
          <p:nvPr/>
        </p:nvSpPr>
        <p:spPr>
          <a:xfrm>
            <a:off x="292608" y="3355847"/>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3282695"/>
            <a:ext cx="3931920" cy="301752"/>
          </a:xfrm>
          <a:prstGeom prst="rect">
            <a:avLst/>
          </a:prstGeom>
          <a:noFill/>
        </p:spPr>
        <p:txBody>
          <a:bodyPr wrap="square" lIns="0" tIns="0" rIns="0" bIns="0">
            <a:spAutoFit/>
          </a:bodyPr>
          <a:lstStyle/>
          <a:p>
            <a:pPr algn="l"/>
            <a:r>
              <a:rPr sz="850" b="0">
                <a:solidFill>
                  <a:srgbClr val="212121"/>
                </a:solidFill>
                <a:latin typeface="Meiryo"/>
              </a:rPr>
              <a:t>お客様には敬語を使う</a:t>
            </a:r>
          </a:p>
        </p:txBody>
      </p:sp>
      <p:sp>
        <p:nvSpPr>
          <p:cNvPr id="29" name="Rectangle 28"/>
          <p:cNvSpPr/>
          <p:nvPr/>
        </p:nvSpPr>
        <p:spPr>
          <a:xfrm>
            <a:off x="292608" y="3648455"/>
            <a:ext cx="54864" cy="109728"/>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3575303"/>
            <a:ext cx="3931920" cy="301752"/>
          </a:xfrm>
          <a:prstGeom prst="rect">
            <a:avLst/>
          </a:prstGeom>
          <a:noFill/>
        </p:spPr>
        <p:txBody>
          <a:bodyPr wrap="square" lIns="0" tIns="0" rIns="0" bIns="0">
            <a:spAutoFit/>
          </a:bodyPr>
          <a:lstStyle/>
          <a:p>
            <a:pPr algn="l"/>
            <a:r>
              <a:rPr sz="850" b="0">
                <a:solidFill>
                  <a:srgbClr val="212121"/>
                </a:solidFill>
                <a:latin typeface="Meiryo"/>
              </a:rPr>
              <a:t>スタッフ同士でも乱暴な言葉遣いはNG</a:t>
            </a:r>
          </a:p>
        </p:txBody>
      </p:sp>
      <p:sp>
        <p:nvSpPr>
          <p:cNvPr id="31" name="Rectangle 30"/>
          <p:cNvSpPr/>
          <p:nvPr/>
        </p:nvSpPr>
        <p:spPr>
          <a:xfrm>
            <a:off x="4681728" y="841248"/>
            <a:ext cx="4187952" cy="24688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0" y="868680"/>
            <a:ext cx="4096512" cy="201168"/>
          </a:xfrm>
          <a:prstGeom prst="rect">
            <a:avLst/>
          </a:prstGeom>
          <a:noFill/>
        </p:spPr>
        <p:txBody>
          <a:bodyPr wrap="square" lIns="0" tIns="0" rIns="0" bIns="0">
            <a:spAutoFit/>
          </a:bodyPr>
          <a:lstStyle/>
          <a:p>
            <a:pPr algn="l"/>
            <a:r>
              <a:rPr sz="1000" b="1">
                <a:solidFill>
                  <a:srgbClr val="FFFFFF"/>
                </a:solidFill>
                <a:latin typeface="Meiryo"/>
              </a:rPr>
              <a:t>賄いルール</a:t>
            </a:r>
          </a:p>
        </p:txBody>
      </p:sp>
      <p:sp>
        <p:nvSpPr>
          <p:cNvPr id="33" name="Rectangle 32"/>
          <p:cNvSpPr/>
          <p:nvPr/>
        </p:nvSpPr>
        <p:spPr>
          <a:xfrm>
            <a:off x="4681728" y="1152144"/>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4880" y="1152144"/>
            <a:ext cx="4041648" cy="201168"/>
          </a:xfrm>
          <a:prstGeom prst="rect">
            <a:avLst/>
          </a:prstGeom>
          <a:noFill/>
        </p:spPr>
        <p:txBody>
          <a:bodyPr wrap="square" lIns="0" tIns="0" rIns="0" bIns="0">
            <a:spAutoFit/>
          </a:bodyPr>
          <a:lstStyle/>
          <a:p>
            <a:pPr algn="l"/>
            <a:r>
              <a:rPr sz="900" b="1">
                <a:solidFill>
                  <a:srgbClr val="D4A800"/>
                </a:solidFill>
                <a:latin typeface="Meiryo"/>
              </a:rPr>
              <a:t>平日の賄い</a:t>
            </a:r>
          </a:p>
        </p:txBody>
      </p:sp>
      <p:sp>
        <p:nvSpPr>
          <p:cNvPr id="35" name="Rectangle 34"/>
          <p:cNvSpPr/>
          <p:nvPr/>
        </p:nvSpPr>
        <p:spPr>
          <a:xfrm>
            <a:off x="4773168" y="1435608"/>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1362456"/>
            <a:ext cx="3931920" cy="301752"/>
          </a:xfrm>
          <a:prstGeom prst="rect">
            <a:avLst/>
          </a:prstGeom>
          <a:noFill/>
        </p:spPr>
        <p:txBody>
          <a:bodyPr wrap="square" lIns="0" tIns="0" rIns="0" bIns="0">
            <a:spAutoFit/>
          </a:bodyPr>
          <a:lstStyle/>
          <a:p>
            <a:pPr algn="l"/>
            <a:r>
              <a:rPr sz="850" b="0">
                <a:solidFill>
                  <a:srgbClr val="212121"/>
                </a:solidFill>
                <a:latin typeface="Meiryo"/>
              </a:rPr>
              <a:t>17時以降出勤した場合に支給（休憩中or退勤後）</a:t>
            </a:r>
          </a:p>
        </p:txBody>
      </p:sp>
      <p:sp>
        <p:nvSpPr>
          <p:cNvPr id="37" name="Rectangle 36"/>
          <p:cNvSpPr/>
          <p:nvPr/>
        </p:nvSpPr>
        <p:spPr>
          <a:xfrm>
            <a:off x="4773168" y="1728216"/>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92040" y="1655064"/>
            <a:ext cx="3931920" cy="301752"/>
          </a:xfrm>
          <a:prstGeom prst="rect">
            <a:avLst/>
          </a:prstGeom>
          <a:noFill/>
        </p:spPr>
        <p:txBody>
          <a:bodyPr wrap="square" lIns="0" tIns="0" rIns="0" bIns="0">
            <a:spAutoFit/>
          </a:bodyPr>
          <a:lstStyle/>
          <a:p>
            <a:pPr algn="l"/>
            <a:r>
              <a:rPr sz="850" b="0">
                <a:solidFill>
                  <a:srgbClr val="212121"/>
                </a:solidFill>
                <a:latin typeface="Meiryo"/>
              </a:rPr>
              <a:t>フード：メニューより1品（ポルチーニ・雲丹・極・すき焼きは禁止）</a:t>
            </a:r>
          </a:p>
        </p:txBody>
      </p:sp>
      <p:sp>
        <p:nvSpPr>
          <p:cNvPr id="39" name="Rectangle 38"/>
          <p:cNvSpPr/>
          <p:nvPr/>
        </p:nvSpPr>
        <p:spPr>
          <a:xfrm>
            <a:off x="4773168" y="2020824"/>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92040" y="1947672"/>
            <a:ext cx="3931920" cy="301752"/>
          </a:xfrm>
          <a:prstGeom prst="rect">
            <a:avLst/>
          </a:prstGeom>
          <a:noFill/>
        </p:spPr>
        <p:txBody>
          <a:bodyPr wrap="square" lIns="0" tIns="0" rIns="0" bIns="0">
            <a:spAutoFit/>
          </a:bodyPr>
          <a:lstStyle/>
          <a:p>
            <a:pPr algn="l"/>
            <a:r>
              <a:rPr sz="850" b="0">
                <a:solidFill>
                  <a:srgbClr val="212121"/>
                </a:solidFill>
                <a:latin typeface="Meiryo"/>
              </a:rPr>
              <a:t>ドリンク：ソフトドリンク・ハイボール等3杯まで</a:t>
            </a:r>
          </a:p>
        </p:txBody>
      </p:sp>
      <p:sp>
        <p:nvSpPr>
          <p:cNvPr id="41" name="Rectangle 40"/>
          <p:cNvSpPr/>
          <p:nvPr/>
        </p:nvSpPr>
        <p:spPr>
          <a:xfrm>
            <a:off x="4681728" y="2258568"/>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80" y="2258568"/>
            <a:ext cx="4041648" cy="201168"/>
          </a:xfrm>
          <a:prstGeom prst="rect">
            <a:avLst/>
          </a:prstGeom>
          <a:noFill/>
        </p:spPr>
        <p:txBody>
          <a:bodyPr wrap="square" lIns="0" tIns="0" rIns="0" bIns="0">
            <a:spAutoFit/>
          </a:bodyPr>
          <a:lstStyle/>
          <a:p>
            <a:pPr algn="l"/>
            <a:r>
              <a:rPr sz="900" b="1">
                <a:solidFill>
                  <a:srgbClr val="D4A800"/>
                </a:solidFill>
                <a:latin typeface="Meiryo"/>
              </a:rPr>
              <a:t>土日祝</a:t>
            </a:r>
          </a:p>
        </p:txBody>
      </p:sp>
      <p:sp>
        <p:nvSpPr>
          <p:cNvPr id="43" name="Rectangle 42"/>
          <p:cNvSpPr/>
          <p:nvPr/>
        </p:nvSpPr>
        <p:spPr>
          <a:xfrm>
            <a:off x="4773168" y="2542032"/>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92040" y="2468879"/>
            <a:ext cx="3931920" cy="301752"/>
          </a:xfrm>
          <a:prstGeom prst="rect">
            <a:avLst/>
          </a:prstGeom>
          <a:noFill/>
        </p:spPr>
        <p:txBody>
          <a:bodyPr wrap="square" lIns="0" tIns="0" rIns="0" bIns="0">
            <a:spAutoFit/>
          </a:bodyPr>
          <a:lstStyle/>
          <a:p>
            <a:pPr algn="l"/>
            <a:r>
              <a:rPr sz="850" b="0">
                <a:solidFill>
                  <a:srgbClr val="212121"/>
                </a:solidFill>
                <a:latin typeface="Meiryo"/>
              </a:rPr>
              <a:t>通し出勤者：賄いは1回のみ（昼or夜）</a:t>
            </a:r>
          </a:p>
        </p:txBody>
      </p:sp>
      <p:sp>
        <p:nvSpPr>
          <p:cNvPr id="45" name="Rectangle 44"/>
          <p:cNvSpPr/>
          <p:nvPr/>
        </p:nvSpPr>
        <p:spPr>
          <a:xfrm>
            <a:off x="4773168" y="2834639"/>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92040" y="2761487"/>
            <a:ext cx="3931920" cy="301752"/>
          </a:xfrm>
          <a:prstGeom prst="rect">
            <a:avLst/>
          </a:prstGeom>
          <a:noFill/>
        </p:spPr>
        <p:txBody>
          <a:bodyPr wrap="square" lIns="0" tIns="0" rIns="0" bIns="0">
            <a:spAutoFit/>
          </a:bodyPr>
          <a:lstStyle/>
          <a:p>
            <a:pPr algn="l"/>
            <a:r>
              <a:rPr sz="850" b="0">
                <a:solidFill>
                  <a:srgbClr val="212121"/>
                </a:solidFill>
                <a:latin typeface="Meiryo"/>
              </a:rPr>
              <a:t>ランチ出勤のみ：賄いなし</a:t>
            </a:r>
          </a:p>
        </p:txBody>
      </p:sp>
      <p:sp>
        <p:nvSpPr>
          <p:cNvPr id="47" name="Rectangle 46"/>
          <p:cNvSpPr/>
          <p:nvPr/>
        </p:nvSpPr>
        <p:spPr>
          <a:xfrm>
            <a:off x="4681728" y="3072383"/>
            <a:ext cx="4187952" cy="201168"/>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80" y="3072383"/>
            <a:ext cx="4041648" cy="201168"/>
          </a:xfrm>
          <a:prstGeom prst="rect">
            <a:avLst/>
          </a:prstGeom>
          <a:noFill/>
        </p:spPr>
        <p:txBody>
          <a:bodyPr wrap="square" lIns="0" tIns="0" rIns="0" bIns="0">
            <a:spAutoFit/>
          </a:bodyPr>
          <a:lstStyle/>
          <a:p>
            <a:pPr algn="l"/>
            <a:r>
              <a:rPr sz="900" b="1">
                <a:solidFill>
                  <a:srgbClr val="D4A800"/>
                </a:solidFill>
                <a:latin typeface="Meiryo"/>
              </a:rPr>
              <a:t>高校生（18歳未満）</a:t>
            </a:r>
          </a:p>
        </p:txBody>
      </p:sp>
      <p:sp>
        <p:nvSpPr>
          <p:cNvPr id="49" name="Rectangle 48"/>
          <p:cNvSpPr/>
          <p:nvPr/>
        </p:nvSpPr>
        <p:spPr>
          <a:xfrm>
            <a:off x="4773168" y="3355847"/>
            <a:ext cx="54864" cy="10972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92040" y="3282695"/>
            <a:ext cx="3931920" cy="301752"/>
          </a:xfrm>
          <a:prstGeom prst="rect">
            <a:avLst/>
          </a:prstGeom>
          <a:noFill/>
        </p:spPr>
        <p:txBody>
          <a:bodyPr wrap="square" lIns="0" tIns="0" rIns="0" bIns="0">
            <a:spAutoFit/>
          </a:bodyPr>
          <a:lstStyle/>
          <a:p>
            <a:pPr algn="l"/>
            <a:r>
              <a:rPr sz="850" b="0">
                <a:solidFill>
                  <a:srgbClr val="212121"/>
                </a:solidFill>
                <a:latin typeface="Meiryo"/>
              </a:rPr>
              <a:t>22時45分までに帰宅すること</a:t>
            </a:r>
          </a:p>
        </p:txBody>
      </p:sp>
      <p:sp>
        <p:nvSpPr>
          <p:cNvPr id="51" name="Rectangle 50"/>
          <p:cNvSpPr/>
          <p:nvPr/>
        </p:nvSpPr>
        <p:spPr>
          <a:xfrm>
            <a:off x="4645152"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02</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身だしなみ・服装規定</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身だしなみ・服装規定</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50392"/>
            <a:ext cx="8741664" cy="292608"/>
          </a:xfrm>
          <a:prstGeom prst="rect">
            <a:avLst/>
          </a:prstGeom>
          <a:solidFill>
            <a:srgbClr val="D0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859536"/>
            <a:ext cx="8412480" cy="256032"/>
          </a:xfrm>
          <a:prstGeom prst="rect">
            <a:avLst/>
          </a:prstGeom>
          <a:noFill/>
        </p:spPr>
        <p:txBody>
          <a:bodyPr wrap="square" lIns="0" tIns="0" rIns="0" bIns="0">
            <a:spAutoFit/>
          </a:bodyPr>
          <a:lstStyle/>
          <a:p>
            <a:pPr algn="l"/>
            <a:r>
              <a:rPr sz="900" b="0">
                <a:solidFill>
                  <a:srgbClr val="00A0E9"/>
                </a:solidFill>
                <a:latin typeface="Meiryo"/>
              </a:rPr>
              <a:t>目的：飲食業としての衛生・安全の確保に加え、「こぼれや」が掲げる上質で高級感のあるブランドコンセプトを体現するために設けるものです。全スタッフが統一された身だしなみを意識することで、店舗全体の雰囲気が整い、お客様に安心と信頼を提供します。</a:t>
            </a:r>
          </a:p>
        </p:txBody>
      </p:sp>
      <p:sp>
        <p:nvSpPr>
          <p:cNvPr id="11" name="Rectangle 10"/>
          <p:cNvSpPr/>
          <p:nvPr/>
        </p:nvSpPr>
        <p:spPr>
          <a:xfrm>
            <a:off x="201168" y="1188720"/>
            <a:ext cx="8741664" cy="3017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01168" y="1188720"/>
            <a:ext cx="1463040" cy="3017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 y="1225296"/>
            <a:ext cx="1463040" cy="228600"/>
          </a:xfrm>
          <a:prstGeom prst="rect">
            <a:avLst/>
          </a:prstGeom>
          <a:noFill/>
        </p:spPr>
        <p:txBody>
          <a:bodyPr wrap="square" lIns="0" tIns="0" rIns="0" bIns="0">
            <a:spAutoFit/>
          </a:bodyPr>
          <a:lstStyle/>
          <a:p>
            <a:pPr algn="ctr"/>
            <a:r>
              <a:rPr sz="1000" b="1">
                <a:solidFill>
                  <a:srgbClr val="FFFFFF"/>
                </a:solidFill>
                <a:latin typeface="Meiryo"/>
              </a:rPr>
              <a:t>髪型</a:t>
            </a:r>
          </a:p>
        </p:txBody>
      </p:sp>
      <p:sp>
        <p:nvSpPr>
          <p:cNvPr id="14" name="TextBox 13"/>
          <p:cNvSpPr txBox="1"/>
          <p:nvPr/>
        </p:nvSpPr>
        <p:spPr>
          <a:xfrm>
            <a:off x="1773936" y="1225296"/>
            <a:ext cx="6949440" cy="228600"/>
          </a:xfrm>
          <a:prstGeom prst="rect">
            <a:avLst/>
          </a:prstGeom>
          <a:noFill/>
        </p:spPr>
        <p:txBody>
          <a:bodyPr wrap="square" lIns="0" tIns="0" rIns="0" bIns="0">
            <a:spAutoFit/>
          </a:bodyPr>
          <a:lstStyle/>
          <a:p>
            <a:pPr algn="l"/>
            <a:r>
              <a:rPr sz="950" b="0">
                <a:solidFill>
                  <a:srgbClr val="212121"/>
                </a:solidFill>
                <a:latin typeface="Meiryo"/>
              </a:rPr>
              <a:t>清潔感があること。長い場合は束ねる。</a:t>
            </a:r>
          </a:p>
        </p:txBody>
      </p:sp>
      <p:sp>
        <p:nvSpPr>
          <p:cNvPr id="15" name="Rectangle 14"/>
          <p:cNvSpPr/>
          <p:nvPr/>
        </p:nvSpPr>
        <p:spPr>
          <a:xfrm>
            <a:off x="201168" y="1499616"/>
            <a:ext cx="8741664"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1168" y="1499616"/>
            <a:ext cx="1463040" cy="3017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1168" y="1536192"/>
            <a:ext cx="1463040" cy="228600"/>
          </a:xfrm>
          <a:prstGeom prst="rect">
            <a:avLst/>
          </a:prstGeom>
          <a:noFill/>
        </p:spPr>
        <p:txBody>
          <a:bodyPr wrap="square" lIns="0" tIns="0" rIns="0" bIns="0">
            <a:spAutoFit/>
          </a:bodyPr>
          <a:lstStyle/>
          <a:p>
            <a:pPr algn="ctr"/>
            <a:r>
              <a:rPr sz="1000" b="1">
                <a:solidFill>
                  <a:srgbClr val="FFFFFF"/>
                </a:solidFill>
                <a:latin typeface="Meiryo"/>
              </a:rPr>
              <a:t>制服</a:t>
            </a:r>
          </a:p>
        </p:txBody>
      </p:sp>
      <p:sp>
        <p:nvSpPr>
          <p:cNvPr id="18" name="TextBox 17"/>
          <p:cNvSpPr txBox="1"/>
          <p:nvPr/>
        </p:nvSpPr>
        <p:spPr>
          <a:xfrm>
            <a:off x="1773936" y="1536192"/>
            <a:ext cx="6949440" cy="228600"/>
          </a:xfrm>
          <a:prstGeom prst="rect">
            <a:avLst/>
          </a:prstGeom>
          <a:noFill/>
        </p:spPr>
        <p:txBody>
          <a:bodyPr wrap="square" lIns="0" tIns="0" rIns="0" bIns="0">
            <a:spAutoFit/>
          </a:bodyPr>
          <a:lstStyle/>
          <a:p>
            <a:pPr algn="l"/>
            <a:r>
              <a:rPr sz="950" b="0">
                <a:solidFill>
                  <a:srgbClr val="212121"/>
                </a:solidFill>
                <a:latin typeface="Meiryo"/>
              </a:rPr>
              <a:t>指定のTシャツを着用。袖は肘まで折る。指定のサロンエプロン着用。</a:t>
            </a:r>
          </a:p>
        </p:txBody>
      </p:sp>
      <p:sp>
        <p:nvSpPr>
          <p:cNvPr id="19" name="Rectangle 18"/>
          <p:cNvSpPr/>
          <p:nvPr/>
        </p:nvSpPr>
        <p:spPr>
          <a:xfrm>
            <a:off x="201168" y="1810512"/>
            <a:ext cx="8741664" cy="3017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01168" y="1810512"/>
            <a:ext cx="1463040" cy="3017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168" y="1847088"/>
            <a:ext cx="1463040" cy="228600"/>
          </a:xfrm>
          <a:prstGeom prst="rect">
            <a:avLst/>
          </a:prstGeom>
          <a:noFill/>
        </p:spPr>
        <p:txBody>
          <a:bodyPr wrap="square" lIns="0" tIns="0" rIns="0" bIns="0">
            <a:spAutoFit/>
          </a:bodyPr>
          <a:lstStyle/>
          <a:p>
            <a:pPr algn="ctr"/>
            <a:r>
              <a:rPr sz="1000" b="1">
                <a:solidFill>
                  <a:srgbClr val="FFFFFF"/>
                </a:solidFill>
                <a:latin typeface="Meiryo"/>
              </a:rPr>
              <a:t>インナー</a:t>
            </a:r>
          </a:p>
        </p:txBody>
      </p:sp>
      <p:sp>
        <p:nvSpPr>
          <p:cNvPr id="22" name="TextBox 21"/>
          <p:cNvSpPr txBox="1"/>
          <p:nvPr/>
        </p:nvSpPr>
        <p:spPr>
          <a:xfrm>
            <a:off x="1773936" y="1847088"/>
            <a:ext cx="6949440" cy="228600"/>
          </a:xfrm>
          <a:prstGeom prst="rect">
            <a:avLst/>
          </a:prstGeom>
          <a:noFill/>
        </p:spPr>
        <p:txBody>
          <a:bodyPr wrap="square" lIns="0" tIns="0" rIns="0" bIns="0">
            <a:spAutoFit/>
          </a:bodyPr>
          <a:lstStyle/>
          <a:p>
            <a:pPr algn="l"/>
            <a:r>
              <a:rPr sz="950" b="0">
                <a:solidFill>
                  <a:srgbClr val="212121"/>
                </a:solidFill>
                <a:latin typeface="Meiryo"/>
              </a:rPr>
              <a:t>黒または紺（無地）のみ可。</a:t>
            </a:r>
          </a:p>
        </p:txBody>
      </p:sp>
      <p:sp>
        <p:nvSpPr>
          <p:cNvPr id="23" name="Rectangle 22"/>
          <p:cNvSpPr/>
          <p:nvPr/>
        </p:nvSpPr>
        <p:spPr>
          <a:xfrm>
            <a:off x="201168" y="2121408"/>
            <a:ext cx="8741664"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2121408"/>
            <a:ext cx="1463040" cy="3017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1168" y="2157984"/>
            <a:ext cx="1463040" cy="228600"/>
          </a:xfrm>
          <a:prstGeom prst="rect">
            <a:avLst/>
          </a:prstGeom>
          <a:noFill/>
        </p:spPr>
        <p:txBody>
          <a:bodyPr wrap="square" lIns="0" tIns="0" rIns="0" bIns="0">
            <a:spAutoFit/>
          </a:bodyPr>
          <a:lstStyle/>
          <a:p>
            <a:pPr algn="ctr"/>
            <a:r>
              <a:rPr sz="1000" b="1">
                <a:solidFill>
                  <a:srgbClr val="FFFFFF"/>
                </a:solidFill>
                <a:latin typeface="Meiryo"/>
              </a:rPr>
              <a:t>パンツ</a:t>
            </a:r>
          </a:p>
        </p:txBody>
      </p:sp>
      <p:sp>
        <p:nvSpPr>
          <p:cNvPr id="26" name="TextBox 25"/>
          <p:cNvSpPr txBox="1"/>
          <p:nvPr/>
        </p:nvSpPr>
        <p:spPr>
          <a:xfrm>
            <a:off x="1773936" y="2157984"/>
            <a:ext cx="6949440" cy="228600"/>
          </a:xfrm>
          <a:prstGeom prst="rect">
            <a:avLst/>
          </a:prstGeom>
          <a:noFill/>
        </p:spPr>
        <p:txBody>
          <a:bodyPr wrap="square" lIns="0" tIns="0" rIns="0" bIns="0">
            <a:spAutoFit/>
          </a:bodyPr>
          <a:lstStyle/>
          <a:p>
            <a:pPr algn="l"/>
            <a:r>
              <a:rPr sz="950" b="0">
                <a:solidFill>
                  <a:srgbClr val="212121"/>
                </a:solidFill>
                <a:latin typeface="Meiryo"/>
              </a:rPr>
              <a:t>指定の黒パンツを着用。</a:t>
            </a:r>
          </a:p>
        </p:txBody>
      </p:sp>
      <p:sp>
        <p:nvSpPr>
          <p:cNvPr id="27" name="Rectangle 26"/>
          <p:cNvSpPr/>
          <p:nvPr/>
        </p:nvSpPr>
        <p:spPr>
          <a:xfrm>
            <a:off x="201168" y="2432304"/>
            <a:ext cx="8741664" cy="3017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01168" y="2432304"/>
            <a:ext cx="1463040" cy="3017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 y="2468880"/>
            <a:ext cx="1463040" cy="228600"/>
          </a:xfrm>
          <a:prstGeom prst="rect">
            <a:avLst/>
          </a:prstGeom>
          <a:noFill/>
        </p:spPr>
        <p:txBody>
          <a:bodyPr wrap="square" lIns="0" tIns="0" rIns="0" bIns="0">
            <a:spAutoFit/>
          </a:bodyPr>
          <a:lstStyle/>
          <a:p>
            <a:pPr algn="ctr"/>
            <a:r>
              <a:rPr sz="1000" b="1">
                <a:solidFill>
                  <a:srgbClr val="FFFFFF"/>
                </a:solidFill>
                <a:latin typeface="Meiryo"/>
              </a:rPr>
              <a:t>靴</a:t>
            </a:r>
          </a:p>
        </p:txBody>
      </p:sp>
      <p:sp>
        <p:nvSpPr>
          <p:cNvPr id="30" name="TextBox 29"/>
          <p:cNvSpPr txBox="1"/>
          <p:nvPr/>
        </p:nvSpPr>
        <p:spPr>
          <a:xfrm>
            <a:off x="1773936" y="2468880"/>
            <a:ext cx="6949440" cy="228600"/>
          </a:xfrm>
          <a:prstGeom prst="rect">
            <a:avLst/>
          </a:prstGeom>
          <a:noFill/>
        </p:spPr>
        <p:txBody>
          <a:bodyPr wrap="square" lIns="0" tIns="0" rIns="0" bIns="0">
            <a:spAutoFit/>
          </a:bodyPr>
          <a:lstStyle/>
          <a:p>
            <a:pPr algn="l"/>
            <a:r>
              <a:rPr sz="950" b="0">
                <a:solidFill>
                  <a:srgbClr val="212121"/>
                </a:solidFill>
                <a:latin typeface="Meiryo"/>
              </a:rPr>
              <a:t>黒の清潔な靴。ヒール不可。</a:t>
            </a:r>
          </a:p>
        </p:txBody>
      </p:sp>
      <p:sp>
        <p:nvSpPr>
          <p:cNvPr id="31" name="Rectangle 30"/>
          <p:cNvSpPr/>
          <p:nvPr/>
        </p:nvSpPr>
        <p:spPr>
          <a:xfrm>
            <a:off x="201168" y="2743200"/>
            <a:ext cx="8741664"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01168" y="2743200"/>
            <a:ext cx="1463040" cy="30175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1168" y="2779776"/>
            <a:ext cx="1463040" cy="228600"/>
          </a:xfrm>
          <a:prstGeom prst="rect">
            <a:avLst/>
          </a:prstGeom>
          <a:noFill/>
        </p:spPr>
        <p:txBody>
          <a:bodyPr wrap="square" lIns="0" tIns="0" rIns="0" bIns="0">
            <a:spAutoFit/>
          </a:bodyPr>
          <a:lstStyle/>
          <a:p>
            <a:pPr algn="ctr"/>
            <a:r>
              <a:rPr sz="1000" b="1">
                <a:solidFill>
                  <a:srgbClr val="FFFFFF"/>
                </a:solidFill>
                <a:latin typeface="Meiryo"/>
              </a:rPr>
              <a:t>アクセサリー</a:t>
            </a:r>
          </a:p>
        </p:txBody>
      </p:sp>
      <p:sp>
        <p:nvSpPr>
          <p:cNvPr id="34" name="TextBox 33"/>
          <p:cNvSpPr txBox="1"/>
          <p:nvPr/>
        </p:nvSpPr>
        <p:spPr>
          <a:xfrm>
            <a:off x="1773936" y="2779776"/>
            <a:ext cx="6949440" cy="228600"/>
          </a:xfrm>
          <a:prstGeom prst="rect">
            <a:avLst/>
          </a:prstGeom>
          <a:noFill/>
        </p:spPr>
        <p:txBody>
          <a:bodyPr wrap="square" lIns="0" tIns="0" rIns="0" bIns="0">
            <a:spAutoFit/>
          </a:bodyPr>
          <a:lstStyle/>
          <a:p>
            <a:pPr algn="l"/>
            <a:r>
              <a:rPr sz="950" b="0">
                <a:solidFill>
                  <a:srgbClr val="212121"/>
                </a:solidFill>
                <a:latin typeface="Meiryo"/>
              </a:rPr>
              <a:t>業務中は全て外す（ピアス・指輪・ネックレス等）。</a:t>
            </a:r>
          </a:p>
        </p:txBody>
      </p:sp>
      <p:sp>
        <p:nvSpPr>
          <p:cNvPr id="35" name="Rectangle 34"/>
          <p:cNvSpPr/>
          <p:nvPr/>
        </p:nvSpPr>
        <p:spPr>
          <a:xfrm>
            <a:off x="201168" y="3054096"/>
            <a:ext cx="8741664" cy="3017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01168" y="3054096"/>
            <a:ext cx="1463040" cy="30175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01168" y="3090672"/>
            <a:ext cx="1463040" cy="228600"/>
          </a:xfrm>
          <a:prstGeom prst="rect">
            <a:avLst/>
          </a:prstGeom>
          <a:noFill/>
        </p:spPr>
        <p:txBody>
          <a:bodyPr wrap="square" lIns="0" tIns="0" rIns="0" bIns="0">
            <a:spAutoFit/>
          </a:bodyPr>
          <a:lstStyle/>
          <a:p>
            <a:pPr algn="ctr"/>
            <a:r>
              <a:rPr sz="1000" b="1">
                <a:solidFill>
                  <a:srgbClr val="FFFFFF"/>
                </a:solidFill>
                <a:latin typeface="Meiryo"/>
              </a:rPr>
              <a:t>ネイル</a:t>
            </a:r>
          </a:p>
        </p:txBody>
      </p:sp>
      <p:sp>
        <p:nvSpPr>
          <p:cNvPr id="38" name="TextBox 37"/>
          <p:cNvSpPr txBox="1"/>
          <p:nvPr/>
        </p:nvSpPr>
        <p:spPr>
          <a:xfrm>
            <a:off x="1773936" y="3090672"/>
            <a:ext cx="6949440" cy="228600"/>
          </a:xfrm>
          <a:prstGeom prst="rect">
            <a:avLst/>
          </a:prstGeom>
          <a:noFill/>
        </p:spPr>
        <p:txBody>
          <a:bodyPr wrap="square" lIns="0" tIns="0" rIns="0" bIns="0">
            <a:spAutoFit/>
          </a:bodyPr>
          <a:lstStyle/>
          <a:p>
            <a:pPr algn="l"/>
            <a:r>
              <a:rPr sz="950" b="0">
                <a:solidFill>
                  <a:srgbClr val="212121"/>
                </a:solidFill>
                <a:latin typeface="Meiryo"/>
              </a:rPr>
              <a:t>過度な装飾は不可。衛生面を優先。</a:t>
            </a:r>
          </a:p>
        </p:txBody>
      </p:sp>
      <p:sp>
        <p:nvSpPr>
          <p:cNvPr id="39" name="Rectangle 38"/>
          <p:cNvSpPr/>
          <p:nvPr/>
        </p:nvSpPr>
        <p:spPr>
          <a:xfrm>
            <a:off x="201168" y="3364991"/>
            <a:ext cx="8741664"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01168" y="3364991"/>
            <a:ext cx="1463040" cy="30175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01168" y="3401568"/>
            <a:ext cx="1463040" cy="228600"/>
          </a:xfrm>
          <a:prstGeom prst="rect">
            <a:avLst/>
          </a:prstGeom>
          <a:noFill/>
        </p:spPr>
        <p:txBody>
          <a:bodyPr wrap="square" lIns="0" tIns="0" rIns="0" bIns="0">
            <a:spAutoFit/>
          </a:bodyPr>
          <a:lstStyle/>
          <a:p>
            <a:pPr algn="ctr"/>
            <a:r>
              <a:rPr sz="1000" b="1">
                <a:solidFill>
                  <a:srgbClr val="FFFFFF"/>
                </a:solidFill>
                <a:latin typeface="Meiryo"/>
              </a:rPr>
              <a:t>カラーコンタクト</a:t>
            </a:r>
          </a:p>
        </p:txBody>
      </p:sp>
      <p:sp>
        <p:nvSpPr>
          <p:cNvPr id="42" name="TextBox 41"/>
          <p:cNvSpPr txBox="1"/>
          <p:nvPr/>
        </p:nvSpPr>
        <p:spPr>
          <a:xfrm>
            <a:off x="1773936" y="3401568"/>
            <a:ext cx="6949440" cy="228600"/>
          </a:xfrm>
          <a:prstGeom prst="rect">
            <a:avLst/>
          </a:prstGeom>
          <a:noFill/>
        </p:spPr>
        <p:txBody>
          <a:bodyPr wrap="square" lIns="0" tIns="0" rIns="0" bIns="0">
            <a:spAutoFit/>
          </a:bodyPr>
          <a:lstStyle/>
          <a:p>
            <a:pPr algn="l"/>
            <a:r>
              <a:rPr sz="950" b="0">
                <a:solidFill>
                  <a:srgbClr val="212121"/>
                </a:solidFill>
                <a:latin typeface="Meiryo"/>
              </a:rPr>
              <a:t>着用禁止。</a:t>
            </a:r>
          </a:p>
        </p:txBody>
      </p:sp>
      <p:sp>
        <p:nvSpPr>
          <p:cNvPr id="43" name="TextBox 42"/>
          <p:cNvSpPr txBox="1"/>
          <p:nvPr/>
        </p:nvSpPr>
        <p:spPr>
          <a:xfrm>
            <a:off x="219456" y="4828032"/>
            <a:ext cx="8503920" cy="182880"/>
          </a:xfrm>
          <a:prstGeom prst="rect">
            <a:avLst/>
          </a:prstGeom>
          <a:noFill/>
        </p:spPr>
        <p:txBody>
          <a:bodyPr wrap="square" lIns="0" tIns="0" rIns="0" bIns="0">
            <a:spAutoFit/>
          </a:bodyPr>
          <a:lstStyle/>
          <a:p>
            <a:pPr algn="l"/>
            <a:r>
              <a:rPr sz="800" b="0">
                <a:solidFill>
                  <a:srgbClr val="E03030"/>
                </a:solidFill>
                <a:latin typeface="Meiryo"/>
              </a:rPr>
              <a:t>※ 判断が難しい場合は、各店長・SV・営業企画部に確認すること。</a:t>
            </a:r>
          </a:p>
        </p:txBody>
      </p:sp>
      <p:sp>
        <p:nvSpPr>
          <p:cNvPr id="44" name="Rectangle 43"/>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4572000" cy="329184"/>
          </a:xfrm>
          <a:prstGeom prst="rect">
            <a:avLst/>
          </a:prstGeom>
          <a:noFill/>
        </p:spPr>
        <p:txBody>
          <a:bodyPr wrap="square" lIns="0" tIns="0" rIns="0" bIns="0">
            <a:spAutoFit/>
          </a:bodyPr>
          <a:lstStyle/>
          <a:p>
            <a:pPr algn="l"/>
            <a:r>
              <a:rPr sz="1100" b="1">
                <a:solidFill>
                  <a:srgbClr val="212121"/>
                </a:solidFill>
                <a:latin typeface="Meiryo"/>
              </a:rPr>
              <a:t>SECTION  03</a:t>
            </a:r>
          </a:p>
        </p:txBody>
      </p:sp>
      <p:sp>
        <p:nvSpPr>
          <p:cNvPr id="5" name="TextBox 4"/>
          <p:cNvSpPr txBox="1"/>
          <p:nvPr/>
        </p:nvSpPr>
        <p:spPr>
          <a:xfrm>
            <a:off x="502920" y="640080"/>
            <a:ext cx="6858000" cy="1828800"/>
          </a:xfrm>
          <a:prstGeom prst="rect">
            <a:avLst/>
          </a:prstGeom>
          <a:noFill/>
        </p:spPr>
        <p:txBody>
          <a:bodyPr wrap="square" lIns="0" tIns="0" rIns="0" bIns="0">
            <a:spAutoFit/>
          </a:bodyPr>
          <a:lstStyle/>
          <a:p>
            <a:pPr algn="l"/>
            <a:r>
              <a:rPr sz="3000" b="1">
                <a:solidFill>
                  <a:srgbClr val="212121"/>
                </a:solidFill>
                <a:latin typeface="Meiryo"/>
              </a:rPr>
              <a:t>ランク別ロール定義</a:t>
            </a:r>
          </a:p>
        </p:txBody>
      </p:sp>
      <p:sp>
        <p:nvSpPr>
          <p:cNvPr id="6" name="Rectangle 5"/>
          <p:cNvSpPr/>
          <p:nvPr/>
        </p:nvSpPr>
        <p:spPr>
          <a:xfrm>
            <a:off x="502920" y="2788920"/>
            <a:ext cx="73152" cy="3200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88920"/>
            <a:ext cx="6858000" cy="438912"/>
          </a:xfrm>
          <a:prstGeom prst="rect">
            <a:avLst/>
          </a:prstGeom>
          <a:noFill/>
        </p:spPr>
        <p:txBody>
          <a:bodyPr wrap="square" lIns="0" tIns="0" rIns="0" bIns="0">
            <a:spAutoFit/>
          </a:bodyPr>
          <a:lstStyle/>
          <a:p>
            <a:pPr algn="l"/>
            <a:r>
              <a:rPr sz="1200" b="0">
                <a:solidFill>
                  <a:srgbClr val="212121"/>
                </a:solidFill>
                <a:latin typeface="Meiryo"/>
              </a:rPr>
              <a:t>各グレードの役割と業務範囲</a:t>
            </a:r>
          </a:p>
        </p:txBody>
      </p:sp>
      <p:sp>
        <p:nvSpPr>
          <p:cNvPr id="8" name="TextBox 7"/>
          <p:cNvSpPr txBox="1"/>
          <p:nvPr/>
        </p:nvSpPr>
        <p:spPr>
          <a:xfrm>
            <a:off x="5943600" y="2286000"/>
            <a:ext cx="3017520" cy="2560320"/>
          </a:xfrm>
          <a:prstGeom prst="rect">
            <a:avLst/>
          </a:prstGeom>
          <a:noFill/>
        </p:spPr>
        <p:txBody>
          <a:bodyPr wrap="square" lIns="0" tIns="0" rIns="0" bIns="0">
            <a:spAutoFit/>
          </a:bodyPr>
          <a:lstStyle/>
          <a:p>
            <a:pPr algn="r"/>
            <a:r>
              <a:rPr sz="8000" b="1">
                <a:solidFill>
                  <a:srgbClr val="D4A800"/>
                </a:solidFill>
                <a:latin typeface="Meiryo"/>
              </a:rPr>
              <a:t>03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03</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ランク別グレード定義</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ランク別グレード定義</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86968"/>
            <a:ext cx="2895600" cy="27432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 y="905256"/>
            <a:ext cx="2804160" cy="237744"/>
          </a:xfrm>
          <a:prstGeom prst="rect">
            <a:avLst/>
          </a:prstGeom>
          <a:noFill/>
        </p:spPr>
        <p:txBody>
          <a:bodyPr wrap="square" lIns="0" tIns="0" rIns="0" bIns="0">
            <a:spAutoFit/>
          </a:bodyPr>
          <a:lstStyle/>
          <a:p>
            <a:pPr algn="ctr"/>
            <a:r>
              <a:rPr sz="1000" b="1">
                <a:solidFill>
                  <a:srgbClr val="FFFFFF"/>
                </a:solidFill>
                <a:latin typeface="Meiryo"/>
              </a:rPr>
              <a:t>グレード</a:t>
            </a:r>
          </a:p>
        </p:txBody>
      </p:sp>
      <p:sp>
        <p:nvSpPr>
          <p:cNvPr id="11" name="Rectangle 10"/>
          <p:cNvSpPr/>
          <p:nvPr/>
        </p:nvSpPr>
        <p:spPr>
          <a:xfrm>
            <a:off x="3115056" y="886968"/>
            <a:ext cx="2895600" cy="27432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60776" y="905256"/>
            <a:ext cx="2804160" cy="237744"/>
          </a:xfrm>
          <a:prstGeom prst="rect">
            <a:avLst/>
          </a:prstGeom>
          <a:noFill/>
        </p:spPr>
        <p:txBody>
          <a:bodyPr wrap="square" lIns="0" tIns="0" rIns="0" bIns="0">
            <a:spAutoFit/>
          </a:bodyPr>
          <a:lstStyle/>
          <a:p>
            <a:pPr algn="ctr"/>
            <a:r>
              <a:rPr sz="1000" b="1">
                <a:solidFill>
                  <a:srgbClr val="FFFFFF"/>
                </a:solidFill>
                <a:latin typeface="Meiryo"/>
              </a:rPr>
              <a:t>ランク名</a:t>
            </a:r>
          </a:p>
        </p:txBody>
      </p:sp>
      <p:sp>
        <p:nvSpPr>
          <p:cNvPr id="13" name="Rectangle 12"/>
          <p:cNvSpPr/>
          <p:nvPr/>
        </p:nvSpPr>
        <p:spPr>
          <a:xfrm>
            <a:off x="6028944" y="886968"/>
            <a:ext cx="2895600" cy="2743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74664" y="905256"/>
            <a:ext cx="2804160" cy="237744"/>
          </a:xfrm>
          <a:prstGeom prst="rect">
            <a:avLst/>
          </a:prstGeom>
          <a:noFill/>
        </p:spPr>
        <p:txBody>
          <a:bodyPr wrap="square" lIns="0" tIns="0" rIns="0" bIns="0">
            <a:spAutoFit/>
          </a:bodyPr>
          <a:lstStyle/>
          <a:p>
            <a:pPr algn="ctr"/>
            <a:r>
              <a:rPr sz="1000" b="1">
                <a:solidFill>
                  <a:srgbClr val="FFFFFF"/>
                </a:solidFill>
                <a:latin typeface="Meiryo"/>
              </a:rPr>
              <a:t>定義・役割</a:t>
            </a:r>
          </a:p>
        </p:txBody>
      </p:sp>
      <p:sp>
        <p:nvSpPr>
          <p:cNvPr id="15" name="Rectangle 14"/>
          <p:cNvSpPr/>
          <p:nvPr/>
        </p:nvSpPr>
        <p:spPr>
          <a:xfrm>
            <a:off x="201168" y="1179576"/>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1168" y="1179576"/>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6888" y="1225296"/>
            <a:ext cx="2804160" cy="283464"/>
          </a:xfrm>
          <a:prstGeom prst="rect">
            <a:avLst/>
          </a:prstGeom>
          <a:noFill/>
        </p:spPr>
        <p:txBody>
          <a:bodyPr wrap="square" lIns="0" tIns="0" rIns="0" bIns="0">
            <a:spAutoFit/>
          </a:bodyPr>
          <a:lstStyle/>
          <a:p>
            <a:pPr algn="ctr"/>
            <a:r>
              <a:rPr sz="950" b="1">
                <a:solidFill>
                  <a:srgbClr val="FFFFFF"/>
                </a:solidFill>
                <a:latin typeface="Meiryo"/>
              </a:rPr>
              <a:t>1</a:t>
            </a:r>
          </a:p>
        </p:txBody>
      </p:sp>
      <p:sp>
        <p:nvSpPr>
          <p:cNvPr id="18" name="Rectangle 17"/>
          <p:cNvSpPr/>
          <p:nvPr/>
        </p:nvSpPr>
        <p:spPr>
          <a:xfrm>
            <a:off x="3115056" y="1179576"/>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60776" y="1225296"/>
            <a:ext cx="2804160" cy="283464"/>
          </a:xfrm>
          <a:prstGeom prst="rect">
            <a:avLst/>
          </a:prstGeom>
          <a:noFill/>
        </p:spPr>
        <p:txBody>
          <a:bodyPr wrap="square" lIns="0" tIns="0" rIns="0" bIns="0">
            <a:spAutoFit/>
          </a:bodyPr>
          <a:lstStyle/>
          <a:p>
            <a:pPr algn="l"/>
            <a:r>
              <a:rPr sz="950" b="0">
                <a:solidFill>
                  <a:srgbClr val="212121"/>
                </a:solidFill>
                <a:latin typeface="Meiryo"/>
              </a:rPr>
              <a:t>Rookie</a:t>
            </a:r>
          </a:p>
        </p:txBody>
      </p:sp>
      <p:sp>
        <p:nvSpPr>
          <p:cNvPr id="20" name="Rectangle 19"/>
          <p:cNvSpPr/>
          <p:nvPr/>
        </p:nvSpPr>
        <p:spPr>
          <a:xfrm>
            <a:off x="6028944" y="1179576"/>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74664" y="1225296"/>
            <a:ext cx="2804160" cy="283464"/>
          </a:xfrm>
          <a:prstGeom prst="rect">
            <a:avLst/>
          </a:prstGeom>
          <a:noFill/>
        </p:spPr>
        <p:txBody>
          <a:bodyPr wrap="square" lIns="0" tIns="0" rIns="0" bIns="0">
            <a:spAutoFit/>
          </a:bodyPr>
          <a:lstStyle/>
          <a:p>
            <a:pPr algn="l"/>
            <a:r>
              <a:rPr sz="950" b="0">
                <a:solidFill>
                  <a:srgbClr val="212121"/>
                </a:solidFill>
                <a:latin typeface="Meiryo"/>
              </a:rPr>
              <a:t>新人。基本業務を習得中のスタッフ。</a:t>
            </a:r>
          </a:p>
        </p:txBody>
      </p:sp>
      <p:sp>
        <p:nvSpPr>
          <p:cNvPr id="22" name="Rectangle 21"/>
          <p:cNvSpPr/>
          <p:nvPr/>
        </p:nvSpPr>
        <p:spPr>
          <a:xfrm>
            <a:off x="201168" y="1536192"/>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01168" y="1563624"/>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1563624"/>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6888" y="1609344"/>
            <a:ext cx="2804160" cy="283464"/>
          </a:xfrm>
          <a:prstGeom prst="rect">
            <a:avLst/>
          </a:prstGeom>
          <a:noFill/>
        </p:spPr>
        <p:txBody>
          <a:bodyPr wrap="square" lIns="0" tIns="0" rIns="0" bIns="0">
            <a:spAutoFit/>
          </a:bodyPr>
          <a:lstStyle/>
          <a:p>
            <a:pPr algn="ctr"/>
            <a:r>
              <a:rPr sz="950" b="1">
                <a:solidFill>
                  <a:srgbClr val="FFFFFF"/>
                </a:solidFill>
                <a:latin typeface="Meiryo"/>
              </a:rPr>
              <a:t>2</a:t>
            </a:r>
          </a:p>
        </p:txBody>
      </p:sp>
      <p:sp>
        <p:nvSpPr>
          <p:cNvPr id="26" name="Rectangle 25"/>
          <p:cNvSpPr/>
          <p:nvPr/>
        </p:nvSpPr>
        <p:spPr>
          <a:xfrm>
            <a:off x="3115056" y="1563624"/>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160776" y="1609344"/>
            <a:ext cx="2804160" cy="283464"/>
          </a:xfrm>
          <a:prstGeom prst="rect">
            <a:avLst/>
          </a:prstGeom>
          <a:noFill/>
        </p:spPr>
        <p:txBody>
          <a:bodyPr wrap="square" lIns="0" tIns="0" rIns="0" bIns="0">
            <a:spAutoFit/>
          </a:bodyPr>
          <a:lstStyle/>
          <a:p>
            <a:pPr algn="l"/>
            <a:r>
              <a:rPr sz="950" b="0">
                <a:solidFill>
                  <a:srgbClr val="212121"/>
                </a:solidFill>
                <a:latin typeface="Meiryo"/>
              </a:rPr>
              <a:t>Bronze</a:t>
            </a:r>
          </a:p>
        </p:txBody>
      </p:sp>
      <p:sp>
        <p:nvSpPr>
          <p:cNvPr id="28" name="Rectangle 27"/>
          <p:cNvSpPr/>
          <p:nvPr/>
        </p:nvSpPr>
        <p:spPr>
          <a:xfrm>
            <a:off x="6028944" y="1563624"/>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74664" y="1609344"/>
            <a:ext cx="2804160" cy="283464"/>
          </a:xfrm>
          <a:prstGeom prst="rect">
            <a:avLst/>
          </a:prstGeom>
          <a:noFill/>
        </p:spPr>
        <p:txBody>
          <a:bodyPr wrap="square" lIns="0" tIns="0" rIns="0" bIns="0">
            <a:spAutoFit/>
          </a:bodyPr>
          <a:lstStyle/>
          <a:p>
            <a:pPr algn="l"/>
            <a:r>
              <a:rPr sz="950" b="0">
                <a:solidFill>
                  <a:srgbClr val="212121"/>
                </a:solidFill>
                <a:latin typeface="Meiryo"/>
              </a:rPr>
              <a:t>基礎業務が一通りできる。</a:t>
            </a:r>
          </a:p>
        </p:txBody>
      </p:sp>
      <p:sp>
        <p:nvSpPr>
          <p:cNvPr id="30" name="Rectangle 29"/>
          <p:cNvSpPr/>
          <p:nvPr/>
        </p:nvSpPr>
        <p:spPr>
          <a:xfrm>
            <a:off x="201168" y="1920240"/>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01168" y="1947672"/>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01168" y="1947672"/>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6888" y="1993391"/>
            <a:ext cx="2804160" cy="283464"/>
          </a:xfrm>
          <a:prstGeom prst="rect">
            <a:avLst/>
          </a:prstGeom>
          <a:noFill/>
        </p:spPr>
        <p:txBody>
          <a:bodyPr wrap="square" lIns="0" tIns="0" rIns="0" bIns="0">
            <a:spAutoFit/>
          </a:bodyPr>
          <a:lstStyle/>
          <a:p>
            <a:pPr algn="ctr"/>
            <a:r>
              <a:rPr sz="950" b="1">
                <a:solidFill>
                  <a:srgbClr val="FFFFFF"/>
                </a:solidFill>
                <a:latin typeface="Meiryo"/>
              </a:rPr>
              <a:t>3</a:t>
            </a:r>
          </a:p>
        </p:txBody>
      </p:sp>
      <p:sp>
        <p:nvSpPr>
          <p:cNvPr id="34" name="Rectangle 33"/>
          <p:cNvSpPr/>
          <p:nvPr/>
        </p:nvSpPr>
        <p:spPr>
          <a:xfrm>
            <a:off x="3115056" y="1947672"/>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60776" y="1993391"/>
            <a:ext cx="2804160" cy="283464"/>
          </a:xfrm>
          <a:prstGeom prst="rect">
            <a:avLst/>
          </a:prstGeom>
          <a:noFill/>
        </p:spPr>
        <p:txBody>
          <a:bodyPr wrap="square" lIns="0" tIns="0" rIns="0" bIns="0">
            <a:spAutoFit/>
          </a:bodyPr>
          <a:lstStyle/>
          <a:p>
            <a:pPr algn="l"/>
            <a:r>
              <a:rPr sz="950" b="0">
                <a:solidFill>
                  <a:srgbClr val="212121"/>
                </a:solidFill>
                <a:latin typeface="Meiryo"/>
              </a:rPr>
              <a:t>Silver</a:t>
            </a:r>
          </a:p>
        </p:txBody>
      </p:sp>
      <p:sp>
        <p:nvSpPr>
          <p:cNvPr id="36" name="Rectangle 35"/>
          <p:cNvSpPr/>
          <p:nvPr/>
        </p:nvSpPr>
        <p:spPr>
          <a:xfrm>
            <a:off x="6028944" y="1947672"/>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74664" y="1993391"/>
            <a:ext cx="2804160" cy="283464"/>
          </a:xfrm>
          <a:prstGeom prst="rect">
            <a:avLst/>
          </a:prstGeom>
          <a:noFill/>
        </p:spPr>
        <p:txBody>
          <a:bodyPr wrap="square" lIns="0" tIns="0" rIns="0" bIns="0">
            <a:spAutoFit/>
          </a:bodyPr>
          <a:lstStyle/>
          <a:p>
            <a:pPr algn="l"/>
            <a:r>
              <a:rPr sz="950" b="0">
                <a:solidFill>
                  <a:srgbClr val="212121"/>
                </a:solidFill>
                <a:latin typeface="Meiryo"/>
              </a:rPr>
              <a:t>応用業務・複数業務を担当できる。</a:t>
            </a:r>
          </a:p>
        </p:txBody>
      </p:sp>
      <p:sp>
        <p:nvSpPr>
          <p:cNvPr id="38" name="Rectangle 37"/>
          <p:cNvSpPr/>
          <p:nvPr/>
        </p:nvSpPr>
        <p:spPr>
          <a:xfrm>
            <a:off x="201168" y="2304288"/>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01168" y="2331720"/>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01168" y="2331720"/>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6888" y="2377439"/>
            <a:ext cx="2804160" cy="283464"/>
          </a:xfrm>
          <a:prstGeom prst="rect">
            <a:avLst/>
          </a:prstGeom>
          <a:noFill/>
        </p:spPr>
        <p:txBody>
          <a:bodyPr wrap="square" lIns="0" tIns="0" rIns="0" bIns="0">
            <a:spAutoFit/>
          </a:bodyPr>
          <a:lstStyle/>
          <a:p>
            <a:pPr algn="ctr"/>
            <a:r>
              <a:rPr sz="950" b="1">
                <a:solidFill>
                  <a:srgbClr val="FFFFFF"/>
                </a:solidFill>
                <a:latin typeface="Meiryo"/>
              </a:rPr>
              <a:t>4</a:t>
            </a:r>
          </a:p>
        </p:txBody>
      </p:sp>
      <p:sp>
        <p:nvSpPr>
          <p:cNvPr id="42" name="Rectangle 41"/>
          <p:cNvSpPr/>
          <p:nvPr/>
        </p:nvSpPr>
        <p:spPr>
          <a:xfrm>
            <a:off x="3115056" y="2331720"/>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160776" y="2377439"/>
            <a:ext cx="2804160" cy="283464"/>
          </a:xfrm>
          <a:prstGeom prst="rect">
            <a:avLst/>
          </a:prstGeom>
          <a:noFill/>
        </p:spPr>
        <p:txBody>
          <a:bodyPr wrap="square" lIns="0" tIns="0" rIns="0" bIns="0">
            <a:spAutoFit/>
          </a:bodyPr>
          <a:lstStyle/>
          <a:p>
            <a:pPr algn="l"/>
            <a:r>
              <a:rPr sz="950" b="0">
                <a:solidFill>
                  <a:srgbClr val="212121"/>
                </a:solidFill>
                <a:latin typeface="Meiryo"/>
              </a:rPr>
              <a:t>Gold</a:t>
            </a:r>
          </a:p>
        </p:txBody>
      </p:sp>
      <p:sp>
        <p:nvSpPr>
          <p:cNvPr id="44" name="Rectangle 43"/>
          <p:cNvSpPr/>
          <p:nvPr/>
        </p:nvSpPr>
        <p:spPr>
          <a:xfrm>
            <a:off x="6028944" y="2331720"/>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074664" y="2377439"/>
            <a:ext cx="2804160" cy="283464"/>
          </a:xfrm>
          <a:prstGeom prst="rect">
            <a:avLst/>
          </a:prstGeom>
          <a:noFill/>
        </p:spPr>
        <p:txBody>
          <a:bodyPr wrap="square" lIns="0" tIns="0" rIns="0" bIns="0">
            <a:spAutoFit/>
          </a:bodyPr>
          <a:lstStyle/>
          <a:p>
            <a:pPr algn="l"/>
            <a:r>
              <a:rPr sz="950" b="0">
                <a:solidFill>
                  <a:srgbClr val="212121"/>
                </a:solidFill>
                <a:latin typeface="Meiryo"/>
              </a:rPr>
              <a:t>中核スタッフ。後輩スタッフの指導も行う。</a:t>
            </a:r>
          </a:p>
        </p:txBody>
      </p:sp>
      <p:sp>
        <p:nvSpPr>
          <p:cNvPr id="46" name="Rectangle 45"/>
          <p:cNvSpPr/>
          <p:nvPr/>
        </p:nvSpPr>
        <p:spPr>
          <a:xfrm>
            <a:off x="201168" y="2688336"/>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01168" y="2715768"/>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01168" y="2715768"/>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46888" y="2761487"/>
            <a:ext cx="2804160" cy="283464"/>
          </a:xfrm>
          <a:prstGeom prst="rect">
            <a:avLst/>
          </a:prstGeom>
          <a:noFill/>
        </p:spPr>
        <p:txBody>
          <a:bodyPr wrap="square" lIns="0" tIns="0" rIns="0" bIns="0">
            <a:spAutoFit/>
          </a:bodyPr>
          <a:lstStyle/>
          <a:p>
            <a:pPr algn="ctr"/>
            <a:r>
              <a:rPr sz="950" b="1">
                <a:solidFill>
                  <a:srgbClr val="FFFFFF"/>
                </a:solidFill>
                <a:latin typeface="Meiryo"/>
              </a:rPr>
              <a:t>5</a:t>
            </a:r>
          </a:p>
        </p:txBody>
      </p:sp>
      <p:sp>
        <p:nvSpPr>
          <p:cNvPr id="50" name="Rectangle 49"/>
          <p:cNvSpPr/>
          <p:nvPr/>
        </p:nvSpPr>
        <p:spPr>
          <a:xfrm>
            <a:off x="3115056" y="2715768"/>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160776" y="2761487"/>
            <a:ext cx="2804160" cy="283464"/>
          </a:xfrm>
          <a:prstGeom prst="rect">
            <a:avLst/>
          </a:prstGeom>
          <a:noFill/>
        </p:spPr>
        <p:txBody>
          <a:bodyPr wrap="square" lIns="0" tIns="0" rIns="0" bIns="0">
            <a:spAutoFit/>
          </a:bodyPr>
          <a:lstStyle/>
          <a:p>
            <a:pPr algn="l"/>
            <a:r>
              <a:rPr sz="950" b="0">
                <a:solidFill>
                  <a:srgbClr val="212121"/>
                </a:solidFill>
                <a:latin typeface="Meiryo"/>
              </a:rPr>
              <a:t>Platinum</a:t>
            </a:r>
          </a:p>
        </p:txBody>
      </p:sp>
      <p:sp>
        <p:nvSpPr>
          <p:cNvPr id="52" name="Rectangle 51"/>
          <p:cNvSpPr/>
          <p:nvPr/>
        </p:nvSpPr>
        <p:spPr>
          <a:xfrm>
            <a:off x="6028944" y="2715768"/>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74664" y="2761487"/>
            <a:ext cx="2804160" cy="283464"/>
          </a:xfrm>
          <a:prstGeom prst="rect">
            <a:avLst/>
          </a:prstGeom>
          <a:noFill/>
        </p:spPr>
        <p:txBody>
          <a:bodyPr wrap="square" lIns="0" tIns="0" rIns="0" bIns="0">
            <a:spAutoFit/>
          </a:bodyPr>
          <a:lstStyle/>
          <a:p>
            <a:pPr algn="l"/>
            <a:r>
              <a:rPr sz="950" b="0">
                <a:solidFill>
                  <a:srgbClr val="212121"/>
                </a:solidFill>
                <a:latin typeface="Meiryo"/>
              </a:rPr>
              <a:t>高度なリーダーシップを発揮できる。</a:t>
            </a:r>
          </a:p>
        </p:txBody>
      </p:sp>
      <p:sp>
        <p:nvSpPr>
          <p:cNvPr id="54" name="Rectangle 53"/>
          <p:cNvSpPr/>
          <p:nvPr/>
        </p:nvSpPr>
        <p:spPr>
          <a:xfrm>
            <a:off x="201168" y="3072384"/>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01168" y="3099816"/>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01168" y="3099816"/>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46888" y="3145536"/>
            <a:ext cx="2804160" cy="283464"/>
          </a:xfrm>
          <a:prstGeom prst="rect">
            <a:avLst/>
          </a:prstGeom>
          <a:noFill/>
        </p:spPr>
        <p:txBody>
          <a:bodyPr wrap="square" lIns="0" tIns="0" rIns="0" bIns="0">
            <a:spAutoFit/>
          </a:bodyPr>
          <a:lstStyle/>
          <a:p>
            <a:pPr algn="ctr"/>
            <a:r>
              <a:rPr sz="950" b="1">
                <a:solidFill>
                  <a:srgbClr val="FFFFFF"/>
                </a:solidFill>
                <a:latin typeface="Meiryo"/>
              </a:rPr>
              <a:t>6</a:t>
            </a:r>
          </a:p>
        </p:txBody>
      </p:sp>
      <p:sp>
        <p:nvSpPr>
          <p:cNvPr id="58" name="Rectangle 57"/>
          <p:cNvSpPr/>
          <p:nvPr/>
        </p:nvSpPr>
        <p:spPr>
          <a:xfrm>
            <a:off x="3115056" y="3099816"/>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160776" y="3145536"/>
            <a:ext cx="2804160" cy="283464"/>
          </a:xfrm>
          <a:prstGeom prst="rect">
            <a:avLst/>
          </a:prstGeom>
          <a:noFill/>
        </p:spPr>
        <p:txBody>
          <a:bodyPr wrap="square" lIns="0" tIns="0" rIns="0" bIns="0">
            <a:spAutoFit/>
          </a:bodyPr>
          <a:lstStyle/>
          <a:p>
            <a:pPr algn="l"/>
            <a:r>
              <a:rPr sz="950" b="0">
                <a:solidFill>
                  <a:srgbClr val="212121"/>
                </a:solidFill>
                <a:latin typeface="Meiryo"/>
              </a:rPr>
              <a:t>Diamond</a:t>
            </a:r>
          </a:p>
        </p:txBody>
      </p:sp>
      <p:sp>
        <p:nvSpPr>
          <p:cNvPr id="60" name="Rectangle 59"/>
          <p:cNvSpPr/>
          <p:nvPr/>
        </p:nvSpPr>
        <p:spPr>
          <a:xfrm>
            <a:off x="6028944" y="3099816"/>
            <a:ext cx="2895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074664" y="3145536"/>
            <a:ext cx="2804160" cy="283464"/>
          </a:xfrm>
          <a:prstGeom prst="rect">
            <a:avLst/>
          </a:prstGeom>
          <a:noFill/>
        </p:spPr>
        <p:txBody>
          <a:bodyPr wrap="square" lIns="0" tIns="0" rIns="0" bIns="0">
            <a:spAutoFit/>
          </a:bodyPr>
          <a:lstStyle/>
          <a:p>
            <a:pPr algn="l"/>
            <a:r>
              <a:rPr sz="950" b="0">
                <a:solidFill>
                  <a:srgbClr val="212121"/>
                </a:solidFill>
                <a:latin typeface="Meiryo"/>
              </a:rPr>
              <a:t>ホールリーダー。全業務を担当・管理する。</a:t>
            </a:r>
          </a:p>
        </p:txBody>
      </p:sp>
      <p:sp>
        <p:nvSpPr>
          <p:cNvPr id="62" name="Rectangle 61"/>
          <p:cNvSpPr/>
          <p:nvPr/>
        </p:nvSpPr>
        <p:spPr>
          <a:xfrm>
            <a:off x="201168" y="3456432"/>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01168" y="3483864"/>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201168" y="3483864"/>
            <a:ext cx="289560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46888" y="3529584"/>
            <a:ext cx="2804160" cy="283464"/>
          </a:xfrm>
          <a:prstGeom prst="rect">
            <a:avLst/>
          </a:prstGeom>
          <a:noFill/>
        </p:spPr>
        <p:txBody>
          <a:bodyPr wrap="square" lIns="0" tIns="0" rIns="0" bIns="0">
            <a:spAutoFit/>
          </a:bodyPr>
          <a:lstStyle/>
          <a:p>
            <a:pPr algn="ctr"/>
            <a:r>
              <a:rPr sz="950" b="1">
                <a:solidFill>
                  <a:srgbClr val="FFFFFF"/>
                </a:solidFill>
                <a:latin typeface="Meiryo"/>
              </a:rPr>
              <a:t>7</a:t>
            </a:r>
          </a:p>
        </p:txBody>
      </p:sp>
      <p:sp>
        <p:nvSpPr>
          <p:cNvPr id="66" name="Rectangle 65"/>
          <p:cNvSpPr/>
          <p:nvPr/>
        </p:nvSpPr>
        <p:spPr>
          <a:xfrm>
            <a:off x="3115056" y="3483864"/>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160776" y="3529584"/>
            <a:ext cx="2804160" cy="283464"/>
          </a:xfrm>
          <a:prstGeom prst="rect">
            <a:avLst/>
          </a:prstGeom>
          <a:noFill/>
        </p:spPr>
        <p:txBody>
          <a:bodyPr wrap="square" lIns="0" tIns="0" rIns="0" bIns="0">
            <a:spAutoFit/>
          </a:bodyPr>
          <a:lstStyle/>
          <a:p>
            <a:pPr algn="l"/>
            <a:r>
              <a:rPr sz="950" b="0">
                <a:solidFill>
                  <a:srgbClr val="212121"/>
                </a:solidFill>
                <a:latin typeface="Meiryo"/>
              </a:rPr>
              <a:t>Star</a:t>
            </a:r>
          </a:p>
        </p:txBody>
      </p:sp>
      <p:sp>
        <p:nvSpPr>
          <p:cNvPr id="68" name="Rectangle 67"/>
          <p:cNvSpPr/>
          <p:nvPr/>
        </p:nvSpPr>
        <p:spPr>
          <a:xfrm>
            <a:off x="6028944" y="3483864"/>
            <a:ext cx="2895600"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074664" y="3529584"/>
            <a:ext cx="2804160" cy="283464"/>
          </a:xfrm>
          <a:prstGeom prst="rect">
            <a:avLst/>
          </a:prstGeom>
          <a:noFill/>
        </p:spPr>
        <p:txBody>
          <a:bodyPr wrap="square" lIns="0" tIns="0" rIns="0" bIns="0">
            <a:spAutoFit/>
          </a:bodyPr>
          <a:lstStyle/>
          <a:p>
            <a:pPr algn="l"/>
            <a:r>
              <a:rPr sz="950" b="0">
                <a:solidFill>
                  <a:srgbClr val="212121"/>
                </a:solidFill>
                <a:latin typeface="Meiryo"/>
              </a:rPr>
              <a:t>営業責任者。店舗全体を統括・管理する。</a:t>
            </a:r>
          </a:p>
        </p:txBody>
      </p:sp>
      <p:sp>
        <p:nvSpPr>
          <p:cNvPr id="70" name="Rectangle 69"/>
          <p:cNvSpPr/>
          <p:nvPr/>
        </p:nvSpPr>
        <p:spPr>
          <a:xfrm>
            <a:off x="201168" y="3840480"/>
            <a:ext cx="8741664" cy="822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4572000" cy="329184"/>
          </a:xfrm>
          <a:prstGeom prst="rect">
            <a:avLst/>
          </a:prstGeom>
          <a:noFill/>
        </p:spPr>
        <p:txBody>
          <a:bodyPr wrap="square" lIns="0" tIns="0" rIns="0" bIns="0">
            <a:spAutoFit/>
          </a:bodyPr>
          <a:lstStyle/>
          <a:p>
            <a:pPr algn="l"/>
            <a:r>
              <a:rPr sz="1100" b="1">
                <a:solidFill>
                  <a:srgbClr val="212121"/>
                </a:solidFill>
                <a:latin typeface="Meiryo"/>
              </a:rPr>
              <a:t>SECTION  04</a:t>
            </a:r>
          </a:p>
        </p:txBody>
      </p:sp>
      <p:sp>
        <p:nvSpPr>
          <p:cNvPr id="5" name="TextBox 4"/>
          <p:cNvSpPr txBox="1"/>
          <p:nvPr/>
        </p:nvSpPr>
        <p:spPr>
          <a:xfrm>
            <a:off x="502920" y="640080"/>
            <a:ext cx="6858000" cy="1828800"/>
          </a:xfrm>
          <a:prstGeom prst="rect">
            <a:avLst/>
          </a:prstGeom>
          <a:noFill/>
        </p:spPr>
        <p:txBody>
          <a:bodyPr wrap="square" lIns="0" tIns="0" rIns="0" bIns="0">
            <a:spAutoFit/>
          </a:bodyPr>
          <a:lstStyle/>
          <a:p>
            <a:pPr algn="l"/>
            <a:r>
              <a:rPr sz="3000" b="1">
                <a:solidFill>
                  <a:srgbClr val="212121"/>
                </a:solidFill>
                <a:latin typeface="Meiryo"/>
              </a:rPr>
              <a:t>ホール基本業務</a:t>
            </a:r>
          </a:p>
        </p:txBody>
      </p:sp>
      <p:sp>
        <p:nvSpPr>
          <p:cNvPr id="6" name="Rectangle 5"/>
          <p:cNvSpPr/>
          <p:nvPr/>
        </p:nvSpPr>
        <p:spPr>
          <a:xfrm>
            <a:off x="502920" y="2788920"/>
            <a:ext cx="73152" cy="3200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88920"/>
            <a:ext cx="6858000" cy="438912"/>
          </a:xfrm>
          <a:prstGeom prst="rect">
            <a:avLst/>
          </a:prstGeom>
          <a:noFill/>
        </p:spPr>
        <p:txBody>
          <a:bodyPr wrap="square" lIns="0" tIns="0" rIns="0" bIns="0">
            <a:spAutoFit/>
          </a:bodyPr>
          <a:lstStyle/>
          <a:p>
            <a:pPr algn="l"/>
            <a:r>
              <a:rPr sz="1200" b="0">
                <a:solidFill>
                  <a:srgbClr val="212121"/>
                </a:solidFill>
                <a:latin typeface="Meiryo"/>
              </a:rPr>
              <a:t>来店対応 〜 テーブルセット</a:t>
            </a:r>
          </a:p>
        </p:txBody>
      </p:sp>
      <p:sp>
        <p:nvSpPr>
          <p:cNvPr id="8" name="TextBox 7"/>
          <p:cNvSpPr txBox="1"/>
          <p:nvPr/>
        </p:nvSpPr>
        <p:spPr>
          <a:xfrm>
            <a:off x="5943600" y="2286000"/>
            <a:ext cx="3017520" cy="2560320"/>
          </a:xfrm>
          <a:prstGeom prst="rect">
            <a:avLst/>
          </a:prstGeom>
          <a:noFill/>
        </p:spPr>
        <p:txBody>
          <a:bodyPr wrap="square" lIns="0" tIns="0" rIns="0" bIns="0">
            <a:spAutoFit/>
          </a:bodyPr>
          <a:lstStyle/>
          <a:p>
            <a:pPr algn="r"/>
            <a:r>
              <a:rPr sz="8000" b="1">
                <a:solidFill>
                  <a:srgbClr val="D4A800"/>
                </a:solidFill>
                <a:latin typeface="Meiryo"/>
              </a:rPr>
              <a:t>04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01</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来店対応</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来店対応</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人数を確認する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予約か否かを確認する（入口まで行く）</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[予約] お名前を聞いてebicaで確認</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[フリー] ebicaで空席確認</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[満席時] ebicaで空席確認・系列店を案内</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お出迎えで第一印象が決まる。100％の笑顔で元気よく！</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入店時の一言目で「ご予約ですか？」と聞く</a:t>
            </a:r>
          </a:p>
        </p:txBody>
      </p:sp>
      <p:sp>
        <p:nvSpPr>
          <p:cNvPr id="35" name="Rectangle 34"/>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（気位が高い印象を与えてしまうため）</a:t>
            </a:r>
          </a:p>
        </p:txBody>
      </p:sp>
      <p:sp>
        <p:nvSpPr>
          <p:cNvPr id="37" name="Rectangle 36"/>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入店に気づかない</a:t>
            </a:r>
          </a:p>
        </p:txBody>
      </p:sp>
      <p:sp>
        <p:nvSpPr>
          <p:cNvPr id="39" name="Rectangle 38"/>
          <p:cNvSpPr/>
          <p:nvPr/>
        </p:nvSpPr>
        <p:spPr>
          <a:xfrm>
            <a:off x="4636007" y="2057400"/>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36592" y="1965960"/>
            <a:ext cx="3986784" cy="301752"/>
          </a:xfrm>
          <a:prstGeom prst="rect">
            <a:avLst/>
          </a:prstGeom>
          <a:noFill/>
        </p:spPr>
        <p:txBody>
          <a:bodyPr wrap="square" lIns="0" tIns="0" rIns="0" bIns="0">
            <a:spAutoFit/>
          </a:bodyPr>
          <a:lstStyle/>
          <a:p>
            <a:pPr algn="l"/>
            <a:r>
              <a:rPr sz="900" b="0">
                <a:solidFill>
                  <a:srgbClr val="212121"/>
                </a:solidFill>
                <a:latin typeface="Meiryo"/>
              </a:rPr>
              <a:t>対応する時に入口まで行かない</a:t>
            </a:r>
          </a:p>
        </p:txBody>
      </p:sp>
      <p:sp>
        <p:nvSpPr>
          <p:cNvPr id="41" name="Rectangle 40"/>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4" name="TextBox 43"/>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・いらっしゃいませ</a:t>
            </a:r>
          </a:p>
        </p:txBody>
      </p:sp>
      <p:sp>
        <p:nvSpPr>
          <p:cNvPr id="45" name="TextBox 44"/>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・何名様ですか</a:t>
            </a:r>
          </a:p>
        </p:txBody>
      </p:sp>
      <p:sp>
        <p:nvSpPr>
          <p:cNvPr id="46" name="TextBox 45"/>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・確認致しますので少々お待ちください</a:t>
            </a:r>
          </a:p>
        </p:txBody>
      </p:sp>
      <p:sp>
        <p:nvSpPr>
          <p:cNvPr id="47" name="TextBox 46"/>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・お待たせ致しました、ご案内致します</a:t>
            </a:r>
          </a:p>
        </p:txBody>
      </p:sp>
      <p:sp>
        <p:nvSpPr>
          <p:cNvPr id="48" name="Rectangle 47"/>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02</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入店時説明</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入店時説明</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入口で時間制を伝える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1ドリンク1フード制を伝える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スタッフが焼く料理を伝える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店舗全体で来店ムードを作る</a:t>
            </a:r>
          </a:p>
        </p:txBody>
      </p:sp>
      <p:sp>
        <p:nvSpPr>
          <p:cNvPr id="23" name="Rectangle 22"/>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26" name="Rectangle 25"/>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入口で対応しない</a:t>
            </a:r>
          </a:p>
        </p:txBody>
      </p:sp>
      <p:sp>
        <p:nvSpPr>
          <p:cNvPr id="28" name="Rectangle 27"/>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アクション項目を伝えない</a:t>
            </a:r>
          </a:p>
        </p:txBody>
      </p:sp>
      <p:sp>
        <p:nvSpPr>
          <p:cNvPr id="30" name="Rectangle 29"/>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対応スタッフが「お客様ご来店です」と言わない</a:t>
            </a:r>
          </a:p>
        </p:txBody>
      </p:sp>
      <p:sp>
        <p:nvSpPr>
          <p:cNvPr id="32" name="Rectangle 31"/>
          <p:cNvSpPr/>
          <p:nvPr/>
        </p:nvSpPr>
        <p:spPr>
          <a:xfrm>
            <a:off x="4636007" y="2057400"/>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36592" y="1965960"/>
            <a:ext cx="3986784" cy="301752"/>
          </a:xfrm>
          <a:prstGeom prst="rect">
            <a:avLst/>
          </a:prstGeom>
          <a:noFill/>
        </p:spPr>
        <p:txBody>
          <a:bodyPr wrap="square" lIns="0" tIns="0" rIns="0" bIns="0">
            <a:spAutoFit/>
          </a:bodyPr>
          <a:lstStyle/>
          <a:p>
            <a:pPr algn="l"/>
            <a:r>
              <a:rPr sz="900" b="0">
                <a:solidFill>
                  <a:srgbClr val="212121"/>
                </a:solidFill>
                <a:latin typeface="Meiryo"/>
              </a:rPr>
              <a:t>他スタッフが「いらっしゃいませ」と言わない</a:t>
            </a:r>
          </a:p>
        </p:txBody>
      </p:sp>
      <p:sp>
        <p:nvSpPr>
          <p:cNvPr id="34" name="Rectangle 33"/>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7" name="TextBox 36"/>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・本日2時間制（90分制）です</a:t>
            </a:r>
          </a:p>
        </p:txBody>
      </p:sp>
      <p:sp>
        <p:nvSpPr>
          <p:cNvPr id="38" name="TextBox 37"/>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・お一人様1ドリンク1フードのご注文をお願い致します</a:t>
            </a:r>
          </a:p>
        </p:txBody>
      </p:sp>
      <p:sp>
        <p:nvSpPr>
          <p:cNvPr id="39" name="TextBox 38"/>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・もんじゃは全てこちらでお焼き致します</a:t>
            </a:r>
          </a:p>
        </p:txBody>
      </p:sp>
      <p:sp>
        <p:nvSpPr>
          <p:cNvPr id="40" name="TextBox 39"/>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・お客様ご来店です！　→（他スタッフ）いらっしゃいませ！</a:t>
            </a:r>
          </a:p>
        </p:txBody>
      </p:sp>
      <p:sp>
        <p:nvSpPr>
          <p:cNvPr id="41" name="Rectangle 40"/>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03</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着席時説明</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着席時説明</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荷物入れの場所を伝える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注文方法（QRコード）を伝える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メニューブックを案内する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定番メニューを伝える</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鉄板の火を点ける</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ゆっくりハキハキと伝える！</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火を点けない</a:t>
            </a:r>
          </a:p>
        </p:txBody>
      </p:sp>
      <p:sp>
        <p:nvSpPr>
          <p:cNvPr id="35" name="Rectangle 34"/>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定番メニューを伝えない</a:t>
            </a:r>
          </a:p>
        </p:txBody>
      </p:sp>
      <p:sp>
        <p:nvSpPr>
          <p:cNvPr id="37" name="Rectangle 36"/>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0" name="TextBox 39"/>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・椅子を持ち上げると荷物が入ります</a:t>
            </a:r>
          </a:p>
        </p:txBody>
      </p:sp>
      <p:sp>
        <p:nvSpPr>
          <p:cNvPr id="41" name="TextBox 40"/>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・注文はこちらのQRコードよりお願い致します</a:t>
            </a:r>
          </a:p>
        </p:txBody>
      </p:sp>
      <p:sp>
        <p:nvSpPr>
          <p:cNvPr id="42" name="TextBox 41"/>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・こちらのメニューブックにもんじゃの詳細が載っています</a:t>
            </a:r>
          </a:p>
        </p:txBody>
      </p:sp>
      <p:sp>
        <p:nvSpPr>
          <p:cNvPr id="43" name="TextBox 42"/>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・定番メニューは明太子餅にチーズトッピングです</a:t>
            </a:r>
          </a:p>
        </p:txBody>
      </p:sp>
      <p:sp>
        <p:nvSpPr>
          <p:cNvPr id="44" name="Rectangle 43"/>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04</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注文取り（QR読取不可時）</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注文取り</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こちらで取ることをお客様に伝える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注文を取る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注文の確認を取る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注文をポスに打つ</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QRコードを再印刷する</a:t>
            </a:r>
          </a:p>
        </p:txBody>
      </p:sp>
      <p:sp>
        <p:nvSpPr>
          <p:cNvPr id="26" name="Rectangle 25"/>
          <p:cNvSpPr/>
          <p:nvPr/>
        </p:nvSpPr>
        <p:spPr>
          <a:xfrm>
            <a:off x="228600" y="266090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 y="2660904"/>
            <a:ext cx="228600" cy="201168"/>
          </a:xfrm>
          <a:prstGeom prst="rect">
            <a:avLst/>
          </a:prstGeom>
          <a:noFill/>
        </p:spPr>
        <p:txBody>
          <a:bodyPr wrap="square" lIns="0" tIns="0" rIns="0" bIns="0">
            <a:spAutoFit/>
          </a:bodyPr>
          <a:lstStyle/>
          <a:p>
            <a:pPr algn="ctr"/>
            <a:r>
              <a:rPr sz="850" b="1">
                <a:solidFill>
                  <a:srgbClr val="FFFFFF"/>
                </a:solidFill>
                <a:latin typeface="Meiryo"/>
              </a:rPr>
              <a:t>6</a:t>
            </a:r>
          </a:p>
        </p:txBody>
      </p:sp>
      <p:sp>
        <p:nvSpPr>
          <p:cNvPr id="28" name="TextBox 27"/>
          <p:cNvSpPr txBox="1"/>
          <p:nvPr/>
        </p:nvSpPr>
        <p:spPr>
          <a:xfrm>
            <a:off x="512064" y="2624328"/>
            <a:ext cx="3712463" cy="301752"/>
          </a:xfrm>
          <a:prstGeom prst="rect">
            <a:avLst/>
          </a:prstGeom>
          <a:noFill/>
        </p:spPr>
        <p:txBody>
          <a:bodyPr wrap="square" lIns="0" tIns="0" rIns="0" bIns="0">
            <a:spAutoFit/>
          </a:bodyPr>
          <a:lstStyle/>
          <a:p>
            <a:pPr algn="l"/>
            <a:r>
              <a:rPr sz="900" b="0">
                <a:solidFill>
                  <a:srgbClr val="212121"/>
                </a:solidFill>
                <a:latin typeface="Meiryo"/>
              </a:rPr>
              <a:t>次回からQRでの注文を伝える</a:t>
            </a:r>
          </a:p>
        </p:txBody>
      </p:sp>
      <p:sp>
        <p:nvSpPr>
          <p:cNvPr id="29" name="Rectangle 28"/>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32" name="TextBox 31"/>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立ち止まって注文を取る。分からない場合は社員に確認。</a:t>
            </a:r>
          </a:p>
        </p:txBody>
      </p:sp>
      <p:sp>
        <p:nvSpPr>
          <p:cNvPr id="33" name="Rectangle 32"/>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6" name="Rectangle 35"/>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「QRコードからお願いします」とだけ言う</a:t>
            </a:r>
          </a:p>
        </p:txBody>
      </p:sp>
      <p:sp>
        <p:nvSpPr>
          <p:cNvPr id="38" name="Rectangle 37"/>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注文方法が分からない場合にそのままにする</a:t>
            </a:r>
          </a:p>
        </p:txBody>
      </p:sp>
      <p:sp>
        <p:nvSpPr>
          <p:cNvPr id="40" name="Rectangle 39"/>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3" name="TextBox 42"/>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・お待たせ致しました。ご注文承ります</a:t>
            </a:r>
          </a:p>
        </p:txBody>
      </p:sp>
      <p:sp>
        <p:nvSpPr>
          <p:cNvPr id="44" name="TextBox 43"/>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・こちら新しいQRです。次回からこちらでご注文をお願い致します</a:t>
            </a:r>
          </a:p>
        </p:txBody>
      </p:sp>
      <p:sp>
        <p:nvSpPr>
          <p:cNvPr id="45" name="Rectangle 4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05</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提供</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提供</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商品名を伝える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料理の調理方法・味付けを伝える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グラスは半分より下を持つ</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複数ドリンクはお客様の前に置く</a:t>
            </a:r>
          </a:p>
        </p:txBody>
      </p:sp>
      <p:sp>
        <p:nvSpPr>
          <p:cNvPr id="23" name="Rectangle 22"/>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6" name="TextBox 25"/>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忙しい時でも立ち止まって！「お待たせ致しました」から始める。</a:t>
            </a:r>
          </a:p>
        </p:txBody>
      </p:sp>
      <p:sp>
        <p:nvSpPr>
          <p:cNvPr id="27" name="Rectangle 26"/>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0" name="Rectangle 29"/>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立ち止まらないで提供する</a:t>
            </a:r>
          </a:p>
        </p:txBody>
      </p:sp>
      <p:sp>
        <p:nvSpPr>
          <p:cNvPr id="32" name="Rectangle 31"/>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商品名を何も言わないで提供する</a:t>
            </a:r>
          </a:p>
        </p:txBody>
      </p:sp>
      <p:sp>
        <p:nvSpPr>
          <p:cNvPr id="34" name="Rectangle 33"/>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料理の調理方法を言わないで提供する</a:t>
            </a:r>
          </a:p>
        </p:txBody>
      </p:sp>
      <p:sp>
        <p:nvSpPr>
          <p:cNvPr id="36" name="Rectangle 35"/>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9" name="TextBox 38"/>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・お待たせ致しました、〇〇です</a:t>
            </a:r>
          </a:p>
        </p:txBody>
      </p:sp>
      <p:sp>
        <p:nvSpPr>
          <p:cNvPr id="40" name="TextBox 39"/>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・（焼かない料理は）調理方法・味付けを説明</a:t>
            </a:r>
          </a:p>
        </p:txBody>
      </p:sp>
      <p:sp>
        <p:nvSpPr>
          <p:cNvPr id="41" name="TextBox 40"/>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・〇〇はどちら様でしょうか</a:t>
            </a:r>
          </a:p>
        </p:txBody>
      </p:sp>
      <p:sp>
        <p:nvSpPr>
          <p:cNvPr id="42" name="Rectangle 41"/>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06</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焼き（5箇条・こだわり説明）</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焼き・5箇条</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こぼれやのこだわり（5箇条）を伝える</a:t>
            </a:r>
          </a:p>
        </p:txBody>
      </p:sp>
      <p:sp>
        <p:nvSpPr>
          <p:cNvPr id="14" name="Rectangle 13"/>
          <p:cNvSpPr/>
          <p:nvPr/>
        </p:nvSpPr>
        <p:spPr>
          <a:xfrm>
            <a:off x="228600" y="1453896"/>
            <a:ext cx="228600" cy="20116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endParaRP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※3個焼き以上の卓は伝えなくてOK</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おすすめのもんじゃを伝える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メニューブックを案内する</a:t>
            </a:r>
          </a:p>
        </p:txBody>
      </p:sp>
      <p:sp>
        <p:nvSpPr>
          <p:cNvPr id="23" name="Rectangle 22"/>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6" name="TextBox 25"/>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ホール業務の中で一番お客様と会話できるタイミング！笑顔で。</a:t>
            </a:r>
          </a:p>
        </p:txBody>
      </p:sp>
      <p:sp>
        <p:nvSpPr>
          <p:cNvPr id="27" name="Rectangle 26"/>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0" name="Rectangle 29"/>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5箇条を伝えない</a:t>
            </a:r>
          </a:p>
        </p:txBody>
      </p:sp>
      <p:sp>
        <p:nvSpPr>
          <p:cNvPr id="32" name="Rectangle 31"/>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お客様と会話をしない（お客様同士で話している時は可）</a:t>
            </a:r>
          </a:p>
        </p:txBody>
      </p:sp>
      <p:sp>
        <p:nvSpPr>
          <p:cNvPr id="34" name="Rectangle 33"/>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メニューブックを案内しない</a:t>
            </a:r>
          </a:p>
        </p:txBody>
      </p:sp>
      <p:sp>
        <p:nvSpPr>
          <p:cNvPr id="36" name="Rectangle 35"/>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9" name="TextBox 38"/>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・こぼれやのこだわりをご説明させていただいてもよろしいですか</a:t>
            </a:r>
          </a:p>
        </p:txBody>
      </p:sp>
      <p:sp>
        <p:nvSpPr>
          <p:cNvPr id="40" name="TextBox 39"/>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・もんじゃの味は出汁と揚げ玉で決まると言われています</a:t>
            </a:r>
          </a:p>
        </p:txBody>
      </p:sp>
      <p:sp>
        <p:nvSpPr>
          <p:cNvPr id="41" name="TextBox 40"/>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・出汁は豚骨ベースで10種類の具材を5時間以上煮込んでいます</a:t>
            </a:r>
          </a:p>
        </p:txBody>
      </p:sp>
      <p:sp>
        <p:nvSpPr>
          <p:cNvPr id="42" name="TextBox 41"/>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・揚げ玉はミシュラン掲載店・銀座の天ぷら屋のものを使用</a:t>
            </a:r>
          </a:p>
        </p:txBody>
      </p:sp>
      <p:sp>
        <p:nvSpPr>
          <p:cNvPr id="43" name="TextBox 42"/>
          <p:cNvSpPr txBox="1"/>
          <p:nvPr/>
        </p:nvSpPr>
        <p:spPr>
          <a:xfrm>
            <a:off x="4663440" y="3776472"/>
            <a:ext cx="4041648" cy="256032"/>
          </a:xfrm>
          <a:prstGeom prst="rect">
            <a:avLst/>
          </a:prstGeom>
          <a:noFill/>
        </p:spPr>
        <p:txBody>
          <a:bodyPr wrap="square" lIns="0" tIns="0" rIns="0" bIns="0">
            <a:spAutoFit/>
          </a:bodyPr>
          <a:lstStyle/>
          <a:p>
            <a:pPr algn="l"/>
            <a:r>
              <a:rPr sz="850" b="0">
                <a:solidFill>
                  <a:srgbClr val="212121"/>
                </a:solidFill>
                <a:latin typeface="Meiryo"/>
              </a:rPr>
              <a:t>・食材は豊洲市場老舗の仲卸店と契約するなど全国から厳選</a:t>
            </a:r>
          </a:p>
        </p:txBody>
      </p:sp>
      <p:sp>
        <p:nvSpPr>
          <p:cNvPr id="44" name="TextBox 43"/>
          <p:cNvSpPr txBox="1"/>
          <p:nvPr/>
        </p:nvSpPr>
        <p:spPr>
          <a:xfrm>
            <a:off x="4663440" y="4023360"/>
            <a:ext cx="4041648" cy="256032"/>
          </a:xfrm>
          <a:prstGeom prst="rect">
            <a:avLst/>
          </a:prstGeom>
          <a:noFill/>
        </p:spPr>
        <p:txBody>
          <a:bodyPr wrap="square" lIns="0" tIns="0" rIns="0" bIns="0">
            <a:spAutoFit/>
          </a:bodyPr>
          <a:lstStyle/>
          <a:p>
            <a:pPr algn="l"/>
            <a:r>
              <a:rPr sz="850" b="0">
                <a:solidFill>
                  <a:srgbClr val="212121"/>
                </a:solidFill>
                <a:latin typeface="Meiryo"/>
              </a:rPr>
              <a:t>・私のおすすめは〇〇です！</a:t>
            </a:r>
          </a:p>
        </p:txBody>
      </p:sp>
      <p:sp>
        <p:nvSpPr>
          <p:cNvPr id="45" name="Rectangle 4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06</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焼き（日常会話）</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焼き・日常会話</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鉄板の温度を確かめる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油を引く</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焼く</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すぐ焼けない場合はお客様に時間を伝える</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ホールスタッフに焼き待ちの卓を共有する</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笑顔で積極的に会話する！</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「お焼き致しますか」と声をかけないで焼く</a:t>
            </a:r>
          </a:p>
        </p:txBody>
      </p:sp>
      <p:sp>
        <p:nvSpPr>
          <p:cNvPr id="35" name="Rectangle 34"/>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離れる時に無言で席を離れる</a:t>
            </a:r>
          </a:p>
        </p:txBody>
      </p:sp>
      <p:sp>
        <p:nvSpPr>
          <p:cNvPr id="37" name="Rectangle 36"/>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お客様と会話をしない（お客様同士で話している時は可）</a:t>
            </a:r>
          </a:p>
        </p:txBody>
      </p:sp>
      <p:sp>
        <p:nvSpPr>
          <p:cNvPr id="39" name="Rectangle 38"/>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2" name="TextBox 41"/>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・もんじゃは久しぶりですか？</a:t>
            </a:r>
          </a:p>
        </p:txBody>
      </p:sp>
      <p:sp>
        <p:nvSpPr>
          <p:cNvPr id="43" name="TextBox 42"/>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・月島は久しぶりですか？</a:t>
            </a:r>
          </a:p>
        </p:txBody>
      </p:sp>
      <p:sp>
        <p:nvSpPr>
          <p:cNvPr id="44" name="TextBox 43"/>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・本日はどちらからお越しですか？</a:t>
            </a:r>
          </a:p>
        </p:txBody>
      </p:sp>
      <p:sp>
        <p:nvSpPr>
          <p:cNvPr id="45" name="TextBox 44"/>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・こぼれやは初めてですか？</a:t>
            </a:r>
          </a:p>
        </p:txBody>
      </p:sp>
      <p:sp>
        <p:nvSpPr>
          <p:cNvPr id="46" name="TextBox 45"/>
          <p:cNvSpPr txBox="1"/>
          <p:nvPr/>
        </p:nvSpPr>
        <p:spPr>
          <a:xfrm>
            <a:off x="4663440" y="3776472"/>
            <a:ext cx="4041648" cy="256032"/>
          </a:xfrm>
          <a:prstGeom prst="rect">
            <a:avLst/>
          </a:prstGeom>
          <a:noFill/>
        </p:spPr>
        <p:txBody>
          <a:bodyPr wrap="square" lIns="0" tIns="0" rIns="0" bIns="0">
            <a:spAutoFit/>
          </a:bodyPr>
          <a:lstStyle/>
          <a:p>
            <a:pPr algn="l"/>
            <a:r>
              <a:rPr sz="850" b="0">
                <a:solidFill>
                  <a:srgbClr val="212121"/>
                </a:solidFill>
                <a:latin typeface="Meiryo"/>
              </a:rPr>
              <a:t>・本日当店を選んだ理由は何ですか？</a:t>
            </a:r>
          </a:p>
        </p:txBody>
      </p:sp>
      <p:sp>
        <p:nvSpPr>
          <p:cNvPr id="47" name="Rectangle 46"/>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06</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焼き（Google口コミ投稿依頼）</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焼き・口コミ</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2回目以降の焼き時にカードを配布</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全店舗で使えるワンドリンクサービス券を説明</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QRコードを説明する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口コミ投稿を依頼する</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Google操作を最後まで説明する</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渡す前に必ず会話で距離を縮めておく。</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1回目の焼きで渡す</a:t>
            </a:r>
          </a:p>
        </p:txBody>
      </p:sp>
      <p:sp>
        <p:nvSpPr>
          <p:cNvPr id="35" name="Rectangle 34"/>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会計時に渡す</a:t>
            </a:r>
          </a:p>
        </p:txBody>
      </p:sp>
      <p:sp>
        <p:nvSpPr>
          <p:cNvPr id="37" name="Rectangle 36"/>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会話していない卓に渡す</a:t>
            </a:r>
          </a:p>
        </p:txBody>
      </p:sp>
      <p:sp>
        <p:nvSpPr>
          <p:cNvPr id="39" name="Rectangle 38"/>
          <p:cNvSpPr/>
          <p:nvPr/>
        </p:nvSpPr>
        <p:spPr>
          <a:xfrm>
            <a:off x="4636007" y="2057400"/>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36592" y="1965960"/>
            <a:ext cx="3986784" cy="301752"/>
          </a:xfrm>
          <a:prstGeom prst="rect">
            <a:avLst/>
          </a:prstGeom>
          <a:noFill/>
        </p:spPr>
        <p:txBody>
          <a:bodyPr wrap="square" lIns="0" tIns="0" rIns="0" bIns="0">
            <a:spAutoFit/>
          </a:bodyPr>
          <a:lstStyle/>
          <a:p>
            <a:pPr algn="l"/>
            <a:r>
              <a:rPr sz="900" b="0">
                <a:solidFill>
                  <a:srgbClr val="212121"/>
                </a:solidFill>
                <a:latin typeface="Meiryo"/>
              </a:rPr>
              <a:t>お客様同士の会話に割り込む</a:t>
            </a:r>
          </a:p>
        </p:txBody>
      </p:sp>
      <p:sp>
        <p:nvSpPr>
          <p:cNvPr id="41" name="Rectangle 40"/>
          <p:cNvSpPr/>
          <p:nvPr/>
        </p:nvSpPr>
        <p:spPr>
          <a:xfrm>
            <a:off x="4636007" y="2340864"/>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36592" y="2249424"/>
            <a:ext cx="3986784" cy="301752"/>
          </a:xfrm>
          <a:prstGeom prst="rect">
            <a:avLst/>
          </a:prstGeom>
          <a:noFill/>
        </p:spPr>
        <p:txBody>
          <a:bodyPr wrap="square" lIns="0" tIns="0" rIns="0" bIns="0">
            <a:spAutoFit/>
          </a:bodyPr>
          <a:lstStyle/>
          <a:p>
            <a:pPr algn="l"/>
            <a:r>
              <a:rPr sz="900" b="0">
                <a:solidFill>
                  <a:srgbClr val="212121"/>
                </a:solidFill>
                <a:latin typeface="Meiryo"/>
              </a:rPr>
              <a:t>提供遅れがあった卓に渡す</a:t>
            </a:r>
          </a:p>
        </p:txBody>
      </p:sp>
      <p:sp>
        <p:nvSpPr>
          <p:cNvPr id="43" name="Rectangle 42"/>
          <p:cNvSpPr/>
          <p:nvPr/>
        </p:nvSpPr>
        <p:spPr>
          <a:xfrm>
            <a:off x="4590288" y="2660904"/>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90288" y="2660904"/>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2679192"/>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6" name="TextBox 45"/>
          <p:cNvSpPr txBox="1"/>
          <p:nvPr/>
        </p:nvSpPr>
        <p:spPr>
          <a:xfrm>
            <a:off x="4663440" y="2935224"/>
            <a:ext cx="4041648" cy="256032"/>
          </a:xfrm>
          <a:prstGeom prst="rect">
            <a:avLst/>
          </a:prstGeom>
          <a:noFill/>
        </p:spPr>
        <p:txBody>
          <a:bodyPr wrap="square" lIns="0" tIns="0" rIns="0" bIns="0">
            <a:spAutoFit/>
          </a:bodyPr>
          <a:lstStyle/>
          <a:p>
            <a:pPr algn="l"/>
            <a:r>
              <a:rPr sz="850" b="0">
                <a:solidFill>
                  <a:srgbClr val="212121"/>
                </a:solidFill>
                <a:latin typeface="Meiryo"/>
              </a:rPr>
              <a:t>・もんじゃのお味やお店の雰囲気はどうですか？</a:t>
            </a:r>
          </a:p>
        </p:txBody>
      </p:sp>
      <p:sp>
        <p:nvSpPr>
          <p:cNvPr id="47" name="TextBox 46"/>
          <p:cNvSpPr txBox="1"/>
          <p:nvPr/>
        </p:nvSpPr>
        <p:spPr>
          <a:xfrm>
            <a:off x="4663440" y="3182112"/>
            <a:ext cx="4041648" cy="256032"/>
          </a:xfrm>
          <a:prstGeom prst="rect">
            <a:avLst/>
          </a:prstGeom>
          <a:noFill/>
        </p:spPr>
        <p:txBody>
          <a:bodyPr wrap="square" lIns="0" tIns="0" rIns="0" bIns="0">
            <a:spAutoFit/>
          </a:bodyPr>
          <a:lstStyle/>
          <a:p>
            <a:pPr algn="l"/>
            <a:r>
              <a:rPr sz="850" b="0">
                <a:solidFill>
                  <a:srgbClr val="212121"/>
                </a:solidFill>
                <a:latin typeface="Meiryo"/>
              </a:rPr>
              <a:t>・こちら次回用のドリンクチケットです！</a:t>
            </a:r>
          </a:p>
        </p:txBody>
      </p:sp>
      <p:sp>
        <p:nvSpPr>
          <p:cNvPr id="48" name="TextBox 47"/>
          <p:cNvSpPr txBox="1"/>
          <p:nvPr/>
        </p:nvSpPr>
        <p:spPr>
          <a:xfrm>
            <a:off x="4663440" y="3429000"/>
            <a:ext cx="4041648" cy="256032"/>
          </a:xfrm>
          <a:prstGeom prst="rect">
            <a:avLst/>
          </a:prstGeom>
          <a:noFill/>
        </p:spPr>
        <p:txBody>
          <a:bodyPr wrap="square" lIns="0" tIns="0" rIns="0" bIns="0">
            <a:spAutoFit/>
          </a:bodyPr>
          <a:lstStyle/>
          <a:p>
            <a:pPr algn="l"/>
            <a:r>
              <a:rPr sz="850" b="0">
                <a:solidFill>
                  <a:srgbClr val="212121"/>
                </a:solidFill>
                <a:latin typeface="Meiryo"/>
              </a:rPr>
              <a:t>・このQRコードを読み込むとGoogleの口コミページに飛びます</a:t>
            </a:r>
          </a:p>
        </p:txBody>
      </p:sp>
      <p:sp>
        <p:nvSpPr>
          <p:cNvPr id="49" name="TextBox 48"/>
          <p:cNvSpPr txBox="1"/>
          <p:nvPr/>
        </p:nvSpPr>
        <p:spPr>
          <a:xfrm>
            <a:off x="4663440" y="3675887"/>
            <a:ext cx="4041648" cy="256032"/>
          </a:xfrm>
          <a:prstGeom prst="rect">
            <a:avLst/>
          </a:prstGeom>
          <a:noFill/>
        </p:spPr>
        <p:txBody>
          <a:bodyPr wrap="square" lIns="0" tIns="0" rIns="0" bIns="0">
            <a:spAutoFit/>
          </a:bodyPr>
          <a:lstStyle/>
          <a:p>
            <a:pPr algn="l"/>
            <a:r>
              <a:rPr sz="850" b="0">
                <a:solidFill>
                  <a:srgbClr val="212121"/>
                </a:solidFill>
                <a:latin typeface="Meiryo"/>
              </a:rPr>
              <a:t>・30秒ほどで終わりますのでご協力お願いします！</a:t>
            </a:r>
          </a:p>
        </p:txBody>
      </p:sp>
      <p:sp>
        <p:nvSpPr>
          <p:cNvPr id="50" name="Rectangle 49"/>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07</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ラウンド</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ラウンド</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他業務がない場合にラウンドする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空いている食器を下げる（確認してから）</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追加注文を伺う（グラス残り3割の卓）</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残料理があるか確認する</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[ある場合] 鉄板掃除をし、キッチンに伝える</a:t>
            </a:r>
          </a:p>
        </p:txBody>
      </p:sp>
      <p:sp>
        <p:nvSpPr>
          <p:cNvPr id="26" name="Rectangle 25"/>
          <p:cNvSpPr/>
          <p:nvPr/>
        </p:nvSpPr>
        <p:spPr>
          <a:xfrm>
            <a:off x="228600" y="266090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 y="2660904"/>
            <a:ext cx="228600" cy="201168"/>
          </a:xfrm>
          <a:prstGeom prst="rect">
            <a:avLst/>
          </a:prstGeom>
          <a:noFill/>
        </p:spPr>
        <p:txBody>
          <a:bodyPr wrap="square" lIns="0" tIns="0" rIns="0" bIns="0">
            <a:spAutoFit/>
          </a:bodyPr>
          <a:lstStyle/>
          <a:p>
            <a:pPr algn="ctr"/>
            <a:r>
              <a:rPr sz="850" b="1">
                <a:solidFill>
                  <a:srgbClr val="FFFFFF"/>
                </a:solidFill>
                <a:latin typeface="Meiryo"/>
              </a:rPr>
              <a:t>6</a:t>
            </a:r>
          </a:p>
        </p:txBody>
      </p:sp>
      <p:sp>
        <p:nvSpPr>
          <p:cNvPr id="28" name="TextBox 27"/>
          <p:cNvSpPr txBox="1"/>
          <p:nvPr/>
        </p:nvSpPr>
        <p:spPr>
          <a:xfrm>
            <a:off x="512064" y="2624328"/>
            <a:ext cx="3712463" cy="301752"/>
          </a:xfrm>
          <a:prstGeom prst="rect">
            <a:avLst/>
          </a:prstGeom>
          <a:noFill/>
        </p:spPr>
        <p:txBody>
          <a:bodyPr wrap="square" lIns="0" tIns="0" rIns="0" bIns="0">
            <a:spAutoFit/>
          </a:bodyPr>
          <a:lstStyle/>
          <a:p>
            <a:pPr algn="l"/>
            <a:r>
              <a:rPr sz="900" b="0">
                <a:solidFill>
                  <a:srgbClr val="212121"/>
                </a:solidFill>
                <a:latin typeface="Meiryo"/>
              </a:rPr>
              <a:t>[ない場合] 鉄板掃除をする</a:t>
            </a:r>
          </a:p>
        </p:txBody>
      </p:sp>
      <p:sp>
        <p:nvSpPr>
          <p:cNvPr id="29" name="Rectangle 28"/>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32" name="TextBox 31"/>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自身で焼いた卓は感想を聞く等、会話しましょう。</a:t>
            </a:r>
          </a:p>
        </p:txBody>
      </p:sp>
      <p:sp>
        <p:nvSpPr>
          <p:cNvPr id="33" name="Rectangle 32"/>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6" name="Rectangle 35"/>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長い時間スタッフ同士で私語をする</a:t>
            </a:r>
          </a:p>
        </p:txBody>
      </p:sp>
      <p:sp>
        <p:nvSpPr>
          <p:cNvPr id="38" name="Rectangle 37"/>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空いた食器を5分以上放置する</a:t>
            </a:r>
          </a:p>
        </p:txBody>
      </p:sp>
      <p:sp>
        <p:nvSpPr>
          <p:cNvPr id="40" name="Rectangle 39"/>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空いたグラスを5分以上放置する</a:t>
            </a:r>
          </a:p>
        </p:txBody>
      </p:sp>
      <p:sp>
        <p:nvSpPr>
          <p:cNvPr id="42" name="Rectangle 41"/>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5" name="TextBox 44"/>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・失礼致します。こちらお下げしてもよろしいでしょうか</a:t>
            </a:r>
          </a:p>
        </p:txBody>
      </p:sp>
      <p:sp>
        <p:nvSpPr>
          <p:cNvPr id="46" name="TextBox 45"/>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・何かお飲み物をお持ち致しますか</a:t>
            </a:r>
          </a:p>
        </p:txBody>
      </p:sp>
      <p:sp>
        <p:nvSpPr>
          <p:cNvPr id="47" name="TextBox 46"/>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・鉄板空き次第お焼き致しますのでお声がけ下さい</a:t>
            </a:r>
          </a:p>
        </p:txBody>
      </p:sp>
      <p:sp>
        <p:nvSpPr>
          <p:cNvPr id="48" name="TextBox 47"/>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・まだ来ていない商品はございますか</a:t>
            </a:r>
          </a:p>
        </p:txBody>
      </p:sp>
      <p:sp>
        <p:nvSpPr>
          <p:cNvPr id="49" name="Rectangle 48"/>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08</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鉄板共有</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鉄板共有</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もんじゃ半分・お好み焼き・鉄板焼きのみの卓をキッチンに共有</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[鉄板にない場合] お客様に今作っていることを伝える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鉄板掃除・火の調整をする</a:t>
            </a:r>
          </a:p>
        </p:txBody>
      </p:sp>
      <p:sp>
        <p:nvSpPr>
          <p:cNvPr id="20" name="Rectangle 19"/>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3" name="TextBox 22"/>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お客様を待たせないようラウンドし、先読みして対応する。</a:t>
            </a:r>
          </a:p>
        </p:txBody>
      </p:sp>
      <p:sp>
        <p:nvSpPr>
          <p:cNvPr id="24" name="Rectangle 23"/>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27" name="Rectangle 26"/>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鉄板が空いた後に確認をする（先読みして事前確認）</a:t>
            </a:r>
          </a:p>
        </p:txBody>
      </p:sp>
      <p:sp>
        <p:nvSpPr>
          <p:cNvPr id="29" name="Rectangle 28"/>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2" name="TextBox 31"/>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・失礼致します。まだ来ていない商品はございますか</a:t>
            </a:r>
          </a:p>
        </p:txBody>
      </p:sp>
      <p:sp>
        <p:nvSpPr>
          <p:cNvPr id="33" name="TextBox 32"/>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・今お作りしておりますので少々お待ち下さい</a:t>
            </a:r>
          </a:p>
        </p:txBody>
      </p:sp>
      <p:sp>
        <p:nvSpPr>
          <p:cNvPr id="34" name="TextBox 33"/>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・すぐ焼けるよう鉄板掃除致します</a:t>
            </a:r>
          </a:p>
        </p:txBody>
      </p:sp>
      <p:sp>
        <p:nvSpPr>
          <p:cNvPr id="35" name="Rectangle 3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09</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ラストオーダー伺い</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ラストオーダー</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ラストオーダーを確認する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残料理を確認する</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残り滞在時間を伝える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注文があった場合は鉄板の火の調整・掃除をする</a:t>
            </a:r>
          </a:p>
        </p:txBody>
      </p:sp>
      <p:sp>
        <p:nvSpPr>
          <p:cNvPr id="23" name="Rectangle 22"/>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6" name="TextBox 25"/>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滞在時間を必ず伝える。ラストオーダーを取ったことをキッチン・ホール責任者に共有。</a:t>
            </a:r>
          </a:p>
        </p:txBody>
      </p:sp>
      <p:sp>
        <p:nvSpPr>
          <p:cNvPr id="27" name="Rectangle 26"/>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0" name="Rectangle 29"/>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ラストオーダーを聞かないで30分後に会計を出す</a:t>
            </a:r>
          </a:p>
        </p:txBody>
      </p:sp>
      <p:sp>
        <p:nvSpPr>
          <p:cNvPr id="32" name="Rectangle 31"/>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5" name="TextBox 34"/>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・失礼致します。30分前ですのでラストオーダーのお時間です</a:t>
            </a:r>
          </a:p>
        </p:txBody>
      </p:sp>
      <p:sp>
        <p:nvSpPr>
          <p:cNvPr id="36" name="TextBox 35"/>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・ご注文はございますか</a:t>
            </a:r>
          </a:p>
        </p:txBody>
      </p:sp>
      <p:sp>
        <p:nvSpPr>
          <p:cNvPr id="37" name="TextBox 36"/>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・まだ来ていない商品はございますか</a:t>
            </a:r>
          </a:p>
        </p:txBody>
      </p:sp>
      <p:sp>
        <p:nvSpPr>
          <p:cNvPr id="38" name="TextBox 37"/>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・後〇分ごゆっくりお過ごし下さい</a:t>
            </a:r>
          </a:p>
        </p:txBody>
      </p:sp>
      <p:sp>
        <p:nvSpPr>
          <p:cNvPr id="39" name="Rectangle 38"/>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19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10</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お会計</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お会計</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ebicaポイントを確認する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席に伝票を持って行く</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注文内容の確認を取る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会計処理をする</a:t>
            </a:r>
          </a:p>
        </p:txBody>
      </p:sp>
      <p:sp>
        <p:nvSpPr>
          <p:cNvPr id="23" name="Rectangle 22"/>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6" name="TextBox 25"/>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間違いがないよう丁寧に。料理・サービスの感想を聞く機会にする。</a:t>
            </a:r>
          </a:p>
        </p:txBody>
      </p:sp>
      <p:sp>
        <p:nvSpPr>
          <p:cNvPr id="27" name="Rectangle 26"/>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0" name="Rectangle 29"/>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注文内容の確認をしない</a:t>
            </a:r>
          </a:p>
        </p:txBody>
      </p:sp>
      <p:sp>
        <p:nvSpPr>
          <p:cNvPr id="32" name="Rectangle 31"/>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ebicaでポイント確認をしない</a:t>
            </a:r>
          </a:p>
        </p:txBody>
      </p:sp>
      <p:sp>
        <p:nvSpPr>
          <p:cNvPr id="34" name="Rectangle 33"/>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37" name="TextBox 36"/>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・注文内容に間違いないかご確認お願い致します</a:t>
            </a:r>
          </a:p>
        </p:txBody>
      </p:sp>
      <p:sp>
        <p:nvSpPr>
          <p:cNvPr id="38" name="TextBox 37"/>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・本日は料理・サービスはいかがでしたか</a:t>
            </a:r>
          </a:p>
        </p:txBody>
      </p:sp>
      <p:sp>
        <p:nvSpPr>
          <p:cNvPr id="39" name="Rectangle 38"/>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11</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お見送り</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お見送り</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「お客様お帰りです」と他スタッフに伝える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他スタッフは「ありがとうございました」と言う</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先に出口扉を開ける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消臭スプレーを使うか確認する</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サービス券（次回1ドリンク）を渡す</a:t>
            </a:r>
          </a:p>
        </p:txBody>
      </p:sp>
      <p:sp>
        <p:nvSpPr>
          <p:cNvPr id="26" name="Rectangle 25"/>
          <p:cNvSpPr/>
          <p:nvPr/>
        </p:nvSpPr>
        <p:spPr>
          <a:xfrm>
            <a:off x="228600" y="266090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8600" y="2660904"/>
            <a:ext cx="228600" cy="201168"/>
          </a:xfrm>
          <a:prstGeom prst="rect">
            <a:avLst/>
          </a:prstGeom>
          <a:noFill/>
        </p:spPr>
        <p:txBody>
          <a:bodyPr wrap="square" lIns="0" tIns="0" rIns="0" bIns="0">
            <a:spAutoFit/>
          </a:bodyPr>
          <a:lstStyle/>
          <a:p>
            <a:pPr algn="ctr"/>
            <a:r>
              <a:rPr sz="850" b="1">
                <a:solidFill>
                  <a:srgbClr val="FFFFFF"/>
                </a:solidFill>
                <a:latin typeface="Meiryo"/>
              </a:rPr>
              <a:t>6</a:t>
            </a:r>
          </a:p>
        </p:txBody>
      </p:sp>
      <p:sp>
        <p:nvSpPr>
          <p:cNvPr id="28" name="TextBox 27"/>
          <p:cNvSpPr txBox="1"/>
          <p:nvPr/>
        </p:nvSpPr>
        <p:spPr>
          <a:xfrm>
            <a:off x="512064" y="2624328"/>
            <a:ext cx="3712463" cy="301752"/>
          </a:xfrm>
          <a:prstGeom prst="rect">
            <a:avLst/>
          </a:prstGeom>
          <a:noFill/>
        </p:spPr>
        <p:txBody>
          <a:bodyPr wrap="square" lIns="0" tIns="0" rIns="0" bIns="0">
            <a:spAutoFit/>
          </a:bodyPr>
          <a:lstStyle/>
          <a:p>
            <a:pPr algn="l"/>
            <a:r>
              <a:rPr sz="900" b="0">
                <a:solidFill>
                  <a:srgbClr val="212121"/>
                </a:solidFill>
                <a:latin typeface="Meiryo"/>
              </a:rPr>
              <a:t>立ち止まってお見送りをする</a:t>
            </a:r>
          </a:p>
        </p:txBody>
      </p:sp>
      <p:sp>
        <p:nvSpPr>
          <p:cNvPr id="29" name="Rectangle 28"/>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32" name="TextBox 31"/>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退店時が最後のサービス！笑顔で元気よく！</a:t>
            </a:r>
          </a:p>
        </p:txBody>
      </p:sp>
      <p:sp>
        <p:nvSpPr>
          <p:cNvPr id="33" name="Rectangle 32"/>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6" name="Rectangle 35"/>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お見送りをしない</a:t>
            </a:r>
          </a:p>
        </p:txBody>
      </p:sp>
      <p:sp>
        <p:nvSpPr>
          <p:cNvPr id="38" name="Rectangle 37"/>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他スタッフが声を出さない</a:t>
            </a:r>
          </a:p>
        </p:txBody>
      </p:sp>
      <p:sp>
        <p:nvSpPr>
          <p:cNvPr id="40" name="Rectangle 39"/>
          <p:cNvSpPr/>
          <p:nvPr/>
        </p:nvSpPr>
        <p:spPr>
          <a:xfrm>
            <a:off x="4590288" y="2514600"/>
            <a:ext cx="4169663" cy="23774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90288" y="2514600"/>
            <a:ext cx="14630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2532888"/>
            <a:ext cx="4078224" cy="182880"/>
          </a:xfrm>
          <a:prstGeom prst="rect">
            <a:avLst/>
          </a:prstGeom>
          <a:noFill/>
        </p:spPr>
        <p:txBody>
          <a:bodyPr wrap="square" lIns="0" tIns="0" rIns="0" bIns="0">
            <a:spAutoFit/>
          </a:bodyPr>
          <a:lstStyle/>
          <a:p>
            <a:pPr algn="l"/>
            <a:r>
              <a:rPr sz="950" b="1">
                <a:solidFill>
                  <a:srgbClr val="212121"/>
                </a:solidFill>
                <a:latin typeface="Meiryo"/>
              </a:rPr>
              <a:t>トークスクリプト</a:t>
            </a:r>
          </a:p>
        </p:txBody>
      </p:sp>
      <p:sp>
        <p:nvSpPr>
          <p:cNvPr id="43" name="TextBox 42"/>
          <p:cNvSpPr txBox="1"/>
          <p:nvPr/>
        </p:nvSpPr>
        <p:spPr>
          <a:xfrm>
            <a:off x="4663440" y="2788920"/>
            <a:ext cx="4041648" cy="256032"/>
          </a:xfrm>
          <a:prstGeom prst="rect">
            <a:avLst/>
          </a:prstGeom>
          <a:noFill/>
        </p:spPr>
        <p:txBody>
          <a:bodyPr wrap="square" lIns="0" tIns="0" rIns="0" bIns="0">
            <a:spAutoFit/>
          </a:bodyPr>
          <a:lstStyle/>
          <a:p>
            <a:pPr algn="l"/>
            <a:r>
              <a:rPr sz="850" b="0">
                <a:solidFill>
                  <a:srgbClr val="212121"/>
                </a:solidFill>
                <a:latin typeface="Meiryo"/>
              </a:rPr>
              <a:t>・（会計スタッフ）お客様お帰りです</a:t>
            </a:r>
          </a:p>
        </p:txBody>
      </p:sp>
      <p:sp>
        <p:nvSpPr>
          <p:cNvPr id="44" name="TextBox 43"/>
          <p:cNvSpPr txBox="1"/>
          <p:nvPr/>
        </p:nvSpPr>
        <p:spPr>
          <a:xfrm>
            <a:off x="4663440" y="3035808"/>
            <a:ext cx="4041648" cy="256032"/>
          </a:xfrm>
          <a:prstGeom prst="rect">
            <a:avLst/>
          </a:prstGeom>
          <a:noFill/>
        </p:spPr>
        <p:txBody>
          <a:bodyPr wrap="square" lIns="0" tIns="0" rIns="0" bIns="0">
            <a:spAutoFit/>
          </a:bodyPr>
          <a:lstStyle/>
          <a:p>
            <a:pPr algn="l"/>
            <a:r>
              <a:rPr sz="850" b="0">
                <a:solidFill>
                  <a:srgbClr val="212121"/>
                </a:solidFill>
                <a:latin typeface="Meiryo"/>
              </a:rPr>
              <a:t>・（他スタッフ）ありがとうございます</a:t>
            </a:r>
          </a:p>
        </p:txBody>
      </p:sp>
      <p:sp>
        <p:nvSpPr>
          <p:cNvPr id="45" name="TextBox 44"/>
          <p:cNvSpPr txBox="1"/>
          <p:nvPr/>
        </p:nvSpPr>
        <p:spPr>
          <a:xfrm>
            <a:off x="4663440" y="3282696"/>
            <a:ext cx="4041648" cy="256032"/>
          </a:xfrm>
          <a:prstGeom prst="rect">
            <a:avLst/>
          </a:prstGeom>
          <a:noFill/>
        </p:spPr>
        <p:txBody>
          <a:bodyPr wrap="square" lIns="0" tIns="0" rIns="0" bIns="0">
            <a:spAutoFit/>
          </a:bodyPr>
          <a:lstStyle/>
          <a:p>
            <a:pPr algn="l"/>
            <a:r>
              <a:rPr sz="850" b="0">
                <a:solidFill>
                  <a:srgbClr val="212121"/>
                </a:solidFill>
                <a:latin typeface="Meiryo"/>
              </a:rPr>
              <a:t>・消臭スプレー使いますか</a:t>
            </a:r>
          </a:p>
        </p:txBody>
      </p:sp>
      <p:sp>
        <p:nvSpPr>
          <p:cNvPr id="46" name="TextBox 45"/>
          <p:cNvSpPr txBox="1"/>
          <p:nvPr/>
        </p:nvSpPr>
        <p:spPr>
          <a:xfrm>
            <a:off x="4663440" y="3529584"/>
            <a:ext cx="4041648" cy="256032"/>
          </a:xfrm>
          <a:prstGeom prst="rect">
            <a:avLst/>
          </a:prstGeom>
          <a:noFill/>
        </p:spPr>
        <p:txBody>
          <a:bodyPr wrap="square" lIns="0" tIns="0" rIns="0" bIns="0">
            <a:spAutoFit/>
          </a:bodyPr>
          <a:lstStyle/>
          <a:p>
            <a:pPr algn="l"/>
            <a:r>
              <a:rPr sz="850" b="0">
                <a:solidFill>
                  <a:srgbClr val="212121"/>
                </a:solidFill>
                <a:latin typeface="Meiryo"/>
              </a:rPr>
              <a:t>・次回使える1ドリンクサービス券です</a:t>
            </a:r>
          </a:p>
        </p:txBody>
      </p:sp>
      <p:sp>
        <p:nvSpPr>
          <p:cNvPr id="47" name="TextBox 46"/>
          <p:cNvSpPr txBox="1"/>
          <p:nvPr/>
        </p:nvSpPr>
        <p:spPr>
          <a:xfrm>
            <a:off x="4663440" y="3776472"/>
            <a:ext cx="4041648" cy="256032"/>
          </a:xfrm>
          <a:prstGeom prst="rect">
            <a:avLst/>
          </a:prstGeom>
          <a:noFill/>
        </p:spPr>
        <p:txBody>
          <a:bodyPr wrap="square" lIns="0" tIns="0" rIns="0" bIns="0">
            <a:spAutoFit/>
          </a:bodyPr>
          <a:lstStyle/>
          <a:p>
            <a:pPr algn="l"/>
            <a:r>
              <a:rPr sz="850" b="0">
                <a:solidFill>
                  <a:srgbClr val="212121"/>
                </a:solidFill>
                <a:latin typeface="Meiryo"/>
              </a:rPr>
              <a:t>・ありがとうございます。またお越し下さい</a:t>
            </a:r>
          </a:p>
        </p:txBody>
      </p:sp>
      <p:sp>
        <p:nvSpPr>
          <p:cNvPr id="48" name="Rectangle 47"/>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12</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バッシング</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バッシング</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食器・グラス・ゴミを下げる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スクレイパー・ダスター・鬼たわし・アルコールを持参</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おかもちを拭き、綺麗に並べる</a:t>
            </a:r>
          </a:p>
        </p:txBody>
      </p:sp>
      <p:sp>
        <p:nvSpPr>
          <p:cNvPr id="20" name="Rectangle 19"/>
          <p:cNvSpPr/>
          <p:nvPr/>
        </p:nvSpPr>
        <p:spPr>
          <a:xfrm>
            <a:off x="228600" y="2057400"/>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鉄板掃除をする（縁も綺麗に）</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5</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椅子・椅子下を確認する</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お客様から見えるテーブル・鉄板・椅子は常に清潔に。</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鬼たわしを使わない</a:t>
            </a:r>
          </a:p>
        </p:txBody>
      </p:sp>
      <p:sp>
        <p:nvSpPr>
          <p:cNvPr id="35" name="Rectangle 34"/>
          <p:cNvSpPr/>
          <p:nvPr/>
        </p:nvSpPr>
        <p:spPr>
          <a:xfrm>
            <a:off x="4636007" y="1490472"/>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36592" y="1399032"/>
            <a:ext cx="3986784" cy="301752"/>
          </a:xfrm>
          <a:prstGeom prst="rect">
            <a:avLst/>
          </a:prstGeom>
          <a:noFill/>
        </p:spPr>
        <p:txBody>
          <a:bodyPr wrap="square" lIns="0" tIns="0" rIns="0" bIns="0">
            <a:spAutoFit/>
          </a:bodyPr>
          <a:lstStyle/>
          <a:p>
            <a:pPr algn="l"/>
            <a:r>
              <a:rPr sz="900" b="0">
                <a:solidFill>
                  <a:srgbClr val="212121"/>
                </a:solidFill>
                <a:latin typeface="Meiryo"/>
              </a:rPr>
              <a:t>アルコールを使わない</a:t>
            </a:r>
          </a:p>
        </p:txBody>
      </p:sp>
      <p:sp>
        <p:nvSpPr>
          <p:cNvPr id="37" name="Rectangle 36"/>
          <p:cNvSpPr/>
          <p:nvPr/>
        </p:nvSpPr>
        <p:spPr>
          <a:xfrm>
            <a:off x="4636007" y="1773936"/>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36592" y="1682496"/>
            <a:ext cx="3986784" cy="301752"/>
          </a:xfrm>
          <a:prstGeom prst="rect">
            <a:avLst/>
          </a:prstGeom>
          <a:noFill/>
        </p:spPr>
        <p:txBody>
          <a:bodyPr wrap="square" lIns="0" tIns="0" rIns="0" bIns="0">
            <a:spAutoFit/>
          </a:bodyPr>
          <a:lstStyle/>
          <a:p>
            <a:pPr algn="l"/>
            <a:r>
              <a:rPr sz="900" b="0">
                <a:solidFill>
                  <a:srgbClr val="212121"/>
                </a:solidFill>
                <a:latin typeface="Meiryo"/>
              </a:rPr>
              <a:t>おかもちを整理しない</a:t>
            </a:r>
          </a:p>
        </p:txBody>
      </p:sp>
      <p:sp>
        <p:nvSpPr>
          <p:cNvPr id="39" name="Rectangle 38"/>
          <p:cNvSpPr/>
          <p:nvPr/>
        </p:nvSpPr>
        <p:spPr>
          <a:xfrm>
            <a:off x="4636007" y="2057400"/>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36592" y="1965960"/>
            <a:ext cx="3986784" cy="301752"/>
          </a:xfrm>
          <a:prstGeom prst="rect">
            <a:avLst/>
          </a:prstGeom>
          <a:noFill/>
        </p:spPr>
        <p:txBody>
          <a:bodyPr wrap="square" lIns="0" tIns="0" rIns="0" bIns="0">
            <a:spAutoFit/>
          </a:bodyPr>
          <a:lstStyle/>
          <a:p>
            <a:pPr algn="l"/>
            <a:r>
              <a:rPr sz="900" b="0">
                <a:solidFill>
                  <a:srgbClr val="212121"/>
                </a:solidFill>
                <a:latin typeface="Meiryo"/>
              </a:rPr>
              <a:t>鉄板が汚いままで終わらせない</a:t>
            </a:r>
          </a:p>
        </p:txBody>
      </p:sp>
      <p:sp>
        <p:nvSpPr>
          <p:cNvPr id="41" name="Rectangle 40"/>
          <p:cNvSpPr/>
          <p:nvPr/>
        </p:nvSpPr>
        <p:spPr>
          <a:xfrm>
            <a:off x="4636007" y="2340864"/>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36592" y="2249424"/>
            <a:ext cx="3986784" cy="301752"/>
          </a:xfrm>
          <a:prstGeom prst="rect">
            <a:avLst/>
          </a:prstGeom>
          <a:noFill/>
        </p:spPr>
        <p:txBody>
          <a:bodyPr wrap="square" lIns="0" tIns="0" rIns="0" bIns="0">
            <a:spAutoFit/>
          </a:bodyPr>
          <a:lstStyle/>
          <a:p>
            <a:pPr algn="l"/>
            <a:r>
              <a:rPr sz="900" b="0">
                <a:solidFill>
                  <a:srgbClr val="212121"/>
                </a:solidFill>
                <a:latin typeface="Meiryo"/>
              </a:rPr>
              <a:t>椅子を確認しない</a:t>
            </a:r>
          </a:p>
        </p:txBody>
      </p:sp>
      <p:sp>
        <p:nvSpPr>
          <p:cNvPr id="43" name="Rectangle 42"/>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13</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テーブルセット</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ホール基本業務  ›  テーブルセット</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2296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850392"/>
            <a:ext cx="3986784" cy="201168"/>
          </a:xfrm>
          <a:prstGeom prst="rect">
            <a:avLst/>
          </a:prstGeom>
          <a:noFill/>
        </p:spPr>
        <p:txBody>
          <a:bodyPr wrap="square" lIns="0" tIns="0" rIns="0" bIns="0">
            <a:spAutoFit/>
          </a:bodyPr>
          <a:lstStyle/>
          <a:p>
            <a:pPr algn="l"/>
            <a:r>
              <a:rPr sz="1000" b="1">
                <a:solidFill>
                  <a:srgbClr val="212121"/>
                </a:solidFill>
                <a:latin typeface="Meiryo"/>
              </a:rPr>
              <a:t>アクション</a:t>
            </a:r>
          </a:p>
        </p:txBody>
      </p:sp>
      <p:sp>
        <p:nvSpPr>
          <p:cNvPr id="11" name="Rectangle 10"/>
          <p:cNvSpPr/>
          <p:nvPr/>
        </p:nvSpPr>
        <p:spPr>
          <a:xfrm>
            <a:off x="228600" y="1152144"/>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600" y="1152144"/>
            <a:ext cx="228600" cy="201168"/>
          </a:xfrm>
          <a:prstGeom prst="rect">
            <a:avLst/>
          </a:prstGeom>
          <a:noFill/>
        </p:spPr>
        <p:txBody>
          <a:bodyPr wrap="square" lIns="0" tIns="0" rIns="0" bIns="0">
            <a:spAutoFit/>
          </a:bodyPr>
          <a:lstStyle/>
          <a:p>
            <a:pPr algn="ctr"/>
            <a:r>
              <a:rPr sz="850" b="1">
                <a:solidFill>
                  <a:srgbClr val="FFFFFF"/>
                </a:solidFill>
                <a:latin typeface="Meiryo"/>
              </a:rPr>
              <a:t>1</a:t>
            </a:r>
          </a:p>
        </p:txBody>
      </p:sp>
      <p:sp>
        <p:nvSpPr>
          <p:cNvPr id="13" name="TextBox 12"/>
          <p:cNvSpPr txBox="1"/>
          <p:nvPr/>
        </p:nvSpPr>
        <p:spPr>
          <a:xfrm>
            <a:off x="512064" y="1115568"/>
            <a:ext cx="3712463" cy="301752"/>
          </a:xfrm>
          <a:prstGeom prst="rect">
            <a:avLst/>
          </a:prstGeom>
          <a:noFill/>
        </p:spPr>
        <p:txBody>
          <a:bodyPr wrap="square" lIns="0" tIns="0" rIns="0" bIns="0">
            <a:spAutoFit/>
          </a:bodyPr>
          <a:lstStyle/>
          <a:p>
            <a:pPr algn="l"/>
            <a:r>
              <a:rPr sz="900" b="0">
                <a:solidFill>
                  <a:srgbClr val="212121"/>
                </a:solidFill>
                <a:latin typeface="Meiryo"/>
              </a:rPr>
              <a:t>ebicaで次の卓の人数を確認する</a:t>
            </a:r>
          </a:p>
        </p:txBody>
      </p:sp>
      <p:sp>
        <p:nvSpPr>
          <p:cNvPr id="14" name="Rectangle 13"/>
          <p:cNvSpPr/>
          <p:nvPr/>
        </p:nvSpPr>
        <p:spPr>
          <a:xfrm>
            <a:off x="228600" y="1453896"/>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453896"/>
            <a:ext cx="228600" cy="201168"/>
          </a:xfrm>
          <a:prstGeom prst="rect">
            <a:avLst/>
          </a:prstGeom>
          <a:noFill/>
        </p:spPr>
        <p:txBody>
          <a:bodyPr wrap="square" lIns="0" tIns="0" rIns="0" bIns="0">
            <a:spAutoFit/>
          </a:bodyPr>
          <a:lstStyle/>
          <a:p>
            <a:pPr algn="ctr"/>
            <a:r>
              <a:rPr sz="850" b="1">
                <a:solidFill>
                  <a:srgbClr val="FFFFFF"/>
                </a:solidFill>
                <a:latin typeface="Meiryo"/>
              </a:rPr>
              <a:t>2</a:t>
            </a:r>
          </a:p>
        </p:txBody>
      </p:sp>
      <p:sp>
        <p:nvSpPr>
          <p:cNvPr id="16" name="TextBox 15"/>
          <p:cNvSpPr txBox="1"/>
          <p:nvPr/>
        </p:nvSpPr>
        <p:spPr>
          <a:xfrm>
            <a:off x="512064" y="1417320"/>
            <a:ext cx="3712463" cy="301752"/>
          </a:xfrm>
          <a:prstGeom prst="rect">
            <a:avLst/>
          </a:prstGeom>
          <a:noFill/>
        </p:spPr>
        <p:txBody>
          <a:bodyPr wrap="square" lIns="0" tIns="0" rIns="0" bIns="0">
            <a:spAutoFit/>
          </a:bodyPr>
          <a:lstStyle/>
          <a:p>
            <a:pPr algn="l"/>
            <a:r>
              <a:rPr sz="900" b="0">
                <a:solidFill>
                  <a:srgbClr val="212121"/>
                </a:solidFill>
                <a:latin typeface="Meiryo"/>
              </a:rPr>
              <a:t>皿・小ベラ・割り箸・紙エプロンを人数分持参</a:t>
            </a:r>
          </a:p>
        </p:txBody>
      </p:sp>
      <p:sp>
        <p:nvSpPr>
          <p:cNvPr id="17" name="Rectangle 16"/>
          <p:cNvSpPr/>
          <p:nvPr/>
        </p:nvSpPr>
        <p:spPr>
          <a:xfrm>
            <a:off x="228600" y="1755648"/>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755648"/>
            <a:ext cx="228600" cy="201168"/>
          </a:xfrm>
          <a:prstGeom prst="rect">
            <a:avLst/>
          </a:prstGeom>
          <a:noFill/>
        </p:spPr>
        <p:txBody>
          <a:bodyPr wrap="square" lIns="0" tIns="0" rIns="0" bIns="0">
            <a:spAutoFit/>
          </a:bodyPr>
          <a:lstStyle/>
          <a:p>
            <a:pPr algn="ctr"/>
            <a:r>
              <a:rPr sz="850" b="1">
                <a:solidFill>
                  <a:srgbClr val="FFFFFF"/>
                </a:solidFill>
                <a:latin typeface="Meiryo"/>
              </a:rPr>
              <a:t>3</a:t>
            </a:r>
          </a:p>
        </p:txBody>
      </p:sp>
      <p:sp>
        <p:nvSpPr>
          <p:cNvPr id="19" name="TextBox 18"/>
          <p:cNvSpPr txBox="1"/>
          <p:nvPr/>
        </p:nvSpPr>
        <p:spPr>
          <a:xfrm>
            <a:off x="512064" y="1719072"/>
            <a:ext cx="3712463" cy="301752"/>
          </a:xfrm>
          <a:prstGeom prst="rect">
            <a:avLst/>
          </a:prstGeom>
          <a:noFill/>
        </p:spPr>
        <p:txBody>
          <a:bodyPr wrap="square" lIns="0" tIns="0" rIns="0" bIns="0">
            <a:spAutoFit/>
          </a:bodyPr>
          <a:lstStyle/>
          <a:p>
            <a:pPr algn="l"/>
            <a:r>
              <a:rPr sz="900" b="0">
                <a:solidFill>
                  <a:srgbClr val="212121"/>
                </a:solidFill>
                <a:latin typeface="Meiryo"/>
              </a:rPr>
              <a:t>はがし1セット・メニューブックを持参</a:t>
            </a:r>
          </a:p>
        </p:txBody>
      </p:sp>
      <p:sp>
        <p:nvSpPr>
          <p:cNvPr id="20" name="Rectangle 19"/>
          <p:cNvSpPr/>
          <p:nvPr/>
        </p:nvSpPr>
        <p:spPr>
          <a:xfrm>
            <a:off x="228600" y="2057400"/>
            <a:ext cx="228600" cy="20116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 y="2057400"/>
            <a:ext cx="228600" cy="201168"/>
          </a:xfrm>
          <a:prstGeom prst="rect">
            <a:avLst/>
          </a:prstGeom>
          <a:noFill/>
        </p:spPr>
        <p:txBody>
          <a:bodyPr wrap="square" lIns="0" tIns="0" rIns="0" bIns="0">
            <a:spAutoFit/>
          </a:bodyPr>
          <a:lstStyle/>
          <a:p>
            <a:pPr algn="ctr"/>
            <a:endParaRPr/>
          </a:p>
        </p:txBody>
      </p:sp>
      <p:sp>
        <p:nvSpPr>
          <p:cNvPr id="22" name="TextBox 21"/>
          <p:cNvSpPr txBox="1"/>
          <p:nvPr/>
        </p:nvSpPr>
        <p:spPr>
          <a:xfrm>
            <a:off x="512064" y="2020824"/>
            <a:ext cx="3712463" cy="301752"/>
          </a:xfrm>
          <a:prstGeom prst="rect">
            <a:avLst/>
          </a:prstGeom>
          <a:noFill/>
        </p:spPr>
        <p:txBody>
          <a:bodyPr wrap="square" lIns="0" tIns="0" rIns="0" bIns="0">
            <a:spAutoFit/>
          </a:bodyPr>
          <a:lstStyle/>
          <a:p>
            <a:pPr algn="l"/>
            <a:r>
              <a:rPr sz="900" b="0">
                <a:solidFill>
                  <a:srgbClr val="212121"/>
                </a:solidFill>
                <a:latin typeface="Meiryo"/>
              </a:rPr>
              <a:t>※次予約の卓：15分前にトレイの上におしぼりを剥いておく</a:t>
            </a:r>
          </a:p>
        </p:txBody>
      </p:sp>
      <p:sp>
        <p:nvSpPr>
          <p:cNvPr id="23" name="Rectangle 22"/>
          <p:cNvSpPr/>
          <p:nvPr/>
        </p:nvSpPr>
        <p:spPr>
          <a:xfrm>
            <a:off x="228600" y="2359152"/>
            <a:ext cx="228600" cy="20116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59152"/>
            <a:ext cx="228600" cy="201168"/>
          </a:xfrm>
          <a:prstGeom prst="rect">
            <a:avLst/>
          </a:prstGeom>
          <a:noFill/>
        </p:spPr>
        <p:txBody>
          <a:bodyPr wrap="square" lIns="0" tIns="0" rIns="0" bIns="0">
            <a:spAutoFit/>
          </a:bodyPr>
          <a:lstStyle/>
          <a:p>
            <a:pPr algn="ctr"/>
            <a:r>
              <a:rPr sz="850" b="1">
                <a:solidFill>
                  <a:srgbClr val="FFFFFF"/>
                </a:solidFill>
                <a:latin typeface="Meiryo"/>
              </a:rPr>
              <a:t>4</a:t>
            </a:r>
          </a:p>
        </p:txBody>
      </p:sp>
      <p:sp>
        <p:nvSpPr>
          <p:cNvPr id="25" name="TextBox 24"/>
          <p:cNvSpPr txBox="1"/>
          <p:nvPr/>
        </p:nvSpPr>
        <p:spPr>
          <a:xfrm>
            <a:off x="512064" y="2322576"/>
            <a:ext cx="3712463" cy="301752"/>
          </a:xfrm>
          <a:prstGeom prst="rect">
            <a:avLst/>
          </a:prstGeom>
          <a:noFill/>
        </p:spPr>
        <p:txBody>
          <a:bodyPr wrap="square" lIns="0" tIns="0" rIns="0" bIns="0">
            <a:spAutoFit/>
          </a:bodyPr>
          <a:lstStyle/>
          <a:p>
            <a:pPr algn="l"/>
            <a:r>
              <a:rPr sz="900" b="0">
                <a:solidFill>
                  <a:srgbClr val="212121"/>
                </a:solidFill>
                <a:latin typeface="Meiryo"/>
              </a:rPr>
              <a:t>各セットを丁寧に並べる</a:t>
            </a:r>
          </a:p>
        </p:txBody>
      </p:sp>
      <p:sp>
        <p:nvSpPr>
          <p:cNvPr id="26" name="Rectangle 25"/>
          <p:cNvSpPr/>
          <p:nvPr/>
        </p:nvSpPr>
        <p:spPr>
          <a:xfrm>
            <a:off x="201168" y="3246120"/>
            <a:ext cx="4078224" cy="126187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 y="3246120"/>
            <a:ext cx="4078224" cy="246888"/>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273551"/>
            <a:ext cx="1828800" cy="201168"/>
          </a:xfrm>
          <a:prstGeom prst="rect">
            <a:avLst/>
          </a:prstGeom>
          <a:noFill/>
        </p:spPr>
        <p:txBody>
          <a:bodyPr wrap="square" lIns="0" tIns="0" rIns="0" bIns="0">
            <a:spAutoFit/>
          </a:bodyPr>
          <a:lstStyle/>
          <a:p>
            <a:pPr algn="l"/>
            <a:r>
              <a:rPr sz="900" b="1">
                <a:solidFill>
                  <a:srgbClr val="212121"/>
                </a:solidFill>
                <a:latin typeface="Meiryo"/>
              </a:rPr>
              <a:t>心構え</a:t>
            </a:r>
          </a:p>
        </p:txBody>
      </p:sp>
      <p:sp>
        <p:nvSpPr>
          <p:cNvPr id="29" name="TextBox 28"/>
          <p:cNvSpPr txBox="1"/>
          <p:nvPr/>
        </p:nvSpPr>
        <p:spPr>
          <a:xfrm>
            <a:off x="292608" y="3529584"/>
            <a:ext cx="3913632" cy="914399"/>
          </a:xfrm>
          <a:prstGeom prst="rect">
            <a:avLst/>
          </a:prstGeom>
          <a:noFill/>
        </p:spPr>
        <p:txBody>
          <a:bodyPr wrap="square" lIns="0" tIns="0" rIns="0" bIns="0">
            <a:spAutoFit/>
          </a:bodyPr>
          <a:lstStyle/>
          <a:p>
            <a:pPr algn="l"/>
            <a:r>
              <a:rPr sz="850" b="0">
                <a:solidFill>
                  <a:srgbClr val="212121"/>
                </a:solidFill>
                <a:latin typeface="Meiryo"/>
              </a:rPr>
              <a:t>慌てず綺麗に並べる。案内前にテーブル・椅子・椅子下を確認・清掃する。</a:t>
            </a:r>
          </a:p>
        </p:txBody>
      </p:sp>
      <p:sp>
        <p:nvSpPr>
          <p:cNvPr id="30" name="Rectangle 29"/>
          <p:cNvSpPr/>
          <p:nvPr/>
        </p:nvSpPr>
        <p:spPr>
          <a:xfrm>
            <a:off x="4480560" y="82296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90288" y="822960"/>
            <a:ext cx="4169663" cy="24688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850392"/>
            <a:ext cx="4078224" cy="201168"/>
          </a:xfrm>
          <a:prstGeom prst="rect">
            <a:avLst/>
          </a:prstGeom>
          <a:noFill/>
        </p:spPr>
        <p:txBody>
          <a:bodyPr wrap="square" lIns="0" tIns="0" rIns="0" bIns="0">
            <a:spAutoFit/>
          </a:bodyPr>
          <a:lstStyle/>
          <a:p>
            <a:pPr algn="l"/>
            <a:r>
              <a:rPr sz="1000" b="1">
                <a:solidFill>
                  <a:srgbClr val="FFFFFF"/>
                </a:solidFill>
                <a:latin typeface="Meiryo"/>
              </a:rPr>
              <a:t>NGアクション</a:t>
            </a:r>
          </a:p>
        </p:txBody>
      </p:sp>
      <p:sp>
        <p:nvSpPr>
          <p:cNvPr id="33" name="Rectangle 32"/>
          <p:cNvSpPr/>
          <p:nvPr/>
        </p:nvSpPr>
        <p:spPr>
          <a:xfrm>
            <a:off x="4636007" y="1207008"/>
            <a:ext cx="45720" cy="11887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6592" y="1115568"/>
            <a:ext cx="3986784" cy="301752"/>
          </a:xfrm>
          <a:prstGeom prst="rect">
            <a:avLst/>
          </a:prstGeom>
          <a:noFill/>
        </p:spPr>
        <p:txBody>
          <a:bodyPr wrap="square" lIns="0" tIns="0" rIns="0" bIns="0">
            <a:spAutoFit/>
          </a:bodyPr>
          <a:lstStyle/>
          <a:p>
            <a:pPr algn="l"/>
            <a:r>
              <a:rPr sz="900" b="0">
                <a:solidFill>
                  <a:srgbClr val="212121"/>
                </a:solidFill>
                <a:latin typeface="Meiryo"/>
              </a:rPr>
              <a:t>雑に並べること</a:t>
            </a:r>
          </a:p>
        </p:txBody>
      </p:sp>
      <p:sp>
        <p:nvSpPr>
          <p:cNvPr id="35" name="Rectangle 3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4572000" cy="329184"/>
          </a:xfrm>
          <a:prstGeom prst="rect">
            <a:avLst/>
          </a:prstGeom>
          <a:noFill/>
        </p:spPr>
        <p:txBody>
          <a:bodyPr wrap="square" lIns="0" tIns="0" rIns="0" bIns="0">
            <a:spAutoFit/>
          </a:bodyPr>
          <a:lstStyle/>
          <a:p>
            <a:pPr algn="l"/>
            <a:r>
              <a:rPr sz="1100" b="1">
                <a:solidFill>
                  <a:srgbClr val="212121"/>
                </a:solidFill>
                <a:latin typeface="Meiryo"/>
              </a:rPr>
              <a:t>SECTION  05</a:t>
            </a:r>
          </a:p>
        </p:txBody>
      </p:sp>
      <p:sp>
        <p:nvSpPr>
          <p:cNvPr id="5" name="TextBox 4"/>
          <p:cNvSpPr txBox="1"/>
          <p:nvPr/>
        </p:nvSpPr>
        <p:spPr>
          <a:xfrm>
            <a:off x="502920" y="640080"/>
            <a:ext cx="6858000" cy="1828800"/>
          </a:xfrm>
          <a:prstGeom prst="rect">
            <a:avLst/>
          </a:prstGeom>
          <a:noFill/>
        </p:spPr>
        <p:txBody>
          <a:bodyPr wrap="square" lIns="0" tIns="0" rIns="0" bIns="0">
            <a:spAutoFit/>
          </a:bodyPr>
          <a:lstStyle/>
          <a:p>
            <a:pPr algn="l"/>
            <a:r>
              <a:rPr sz="3000" b="1">
                <a:solidFill>
                  <a:srgbClr val="212121"/>
                </a:solidFill>
                <a:latin typeface="Meiryo"/>
              </a:rPr>
              <a:t>こぼれやの5箇条
出汁の訴求</a:t>
            </a:r>
          </a:p>
        </p:txBody>
      </p:sp>
      <p:sp>
        <p:nvSpPr>
          <p:cNvPr id="6" name="Rectangle 5"/>
          <p:cNvSpPr/>
          <p:nvPr/>
        </p:nvSpPr>
        <p:spPr>
          <a:xfrm>
            <a:off x="502920" y="2788920"/>
            <a:ext cx="73152" cy="320040"/>
          </a:xfrm>
          <a:prstGeom prst="rect">
            <a:avLst/>
          </a:prstGeom>
          <a:solidFill>
            <a:srgbClr val="2121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788920"/>
            <a:ext cx="6858000" cy="438912"/>
          </a:xfrm>
          <a:prstGeom prst="rect">
            <a:avLst/>
          </a:prstGeom>
          <a:noFill/>
        </p:spPr>
        <p:txBody>
          <a:bodyPr wrap="square" lIns="0" tIns="0" rIns="0" bIns="0">
            <a:spAutoFit/>
          </a:bodyPr>
          <a:lstStyle/>
          <a:p>
            <a:pPr algn="l"/>
            <a:r>
              <a:rPr sz="1200" b="0">
                <a:solidFill>
                  <a:srgbClr val="212121"/>
                </a:solidFill>
                <a:latin typeface="Meiryo"/>
              </a:rPr>
              <a:t>焼き時に伝えるこだわりポイント</a:t>
            </a:r>
          </a:p>
        </p:txBody>
      </p:sp>
      <p:sp>
        <p:nvSpPr>
          <p:cNvPr id="8" name="TextBox 7"/>
          <p:cNvSpPr txBox="1"/>
          <p:nvPr/>
        </p:nvSpPr>
        <p:spPr>
          <a:xfrm>
            <a:off x="5943600" y="2286000"/>
            <a:ext cx="3017520" cy="2560320"/>
          </a:xfrm>
          <a:prstGeom prst="rect">
            <a:avLst/>
          </a:prstGeom>
          <a:noFill/>
        </p:spPr>
        <p:txBody>
          <a:bodyPr wrap="square" lIns="0" tIns="0" rIns="0" bIns="0">
            <a:spAutoFit/>
          </a:bodyPr>
          <a:lstStyle/>
          <a:p>
            <a:pPr algn="r"/>
            <a:r>
              <a:rPr sz="8000" b="1">
                <a:solidFill>
                  <a:srgbClr val="D4A800"/>
                </a:solidFill>
                <a:latin typeface="Meiryo"/>
              </a:rPr>
              <a:t>05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05</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こぼれやの出汁・素材へのこだわり</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こぼれやの出汁・素材へのこだわり</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50392"/>
            <a:ext cx="8741664" cy="25603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868680"/>
            <a:ext cx="8412480" cy="219456"/>
          </a:xfrm>
          <a:prstGeom prst="rect">
            <a:avLst/>
          </a:prstGeom>
          <a:noFill/>
        </p:spPr>
        <p:txBody>
          <a:bodyPr wrap="square" lIns="0" tIns="0" rIns="0" bIns="0">
            <a:spAutoFit/>
          </a:bodyPr>
          <a:lstStyle/>
          <a:p>
            <a:pPr algn="l"/>
            <a:r>
              <a:rPr sz="1000" b="1">
                <a:solidFill>
                  <a:srgbClr val="212121"/>
                </a:solidFill>
                <a:latin typeface="Meiryo"/>
              </a:rPr>
              <a:t>「もんじゃの味は出汁と揚げ玉で決まる」— こぼれやはこの2点に徹底的にこだわっています</a:t>
            </a:r>
          </a:p>
        </p:txBody>
      </p:sp>
      <p:sp>
        <p:nvSpPr>
          <p:cNvPr id="11" name="Rectangle 10"/>
          <p:cNvSpPr/>
          <p:nvPr/>
        </p:nvSpPr>
        <p:spPr>
          <a:xfrm>
            <a:off x="201168" y="1170432"/>
            <a:ext cx="8741664" cy="4389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01168" y="1170432"/>
            <a:ext cx="1417320" cy="43891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 y="1243584"/>
            <a:ext cx="1417320" cy="274320"/>
          </a:xfrm>
          <a:prstGeom prst="rect">
            <a:avLst/>
          </a:prstGeom>
          <a:noFill/>
        </p:spPr>
        <p:txBody>
          <a:bodyPr wrap="square" lIns="0" tIns="0" rIns="0" bIns="0">
            <a:spAutoFit/>
          </a:bodyPr>
          <a:lstStyle/>
          <a:p>
            <a:pPr algn="ctr"/>
            <a:r>
              <a:rPr sz="1100" b="1">
                <a:solidFill>
                  <a:srgbClr val="FFFFFF"/>
                </a:solidFill>
                <a:latin typeface="Meiryo"/>
              </a:rPr>
              <a:t>出汁</a:t>
            </a:r>
          </a:p>
        </p:txBody>
      </p:sp>
      <p:sp>
        <p:nvSpPr>
          <p:cNvPr id="14" name="TextBox 13"/>
          <p:cNvSpPr txBox="1"/>
          <p:nvPr/>
        </p:nvSpPr>
        <p:spPr>
          <a:xfrm>
            <a:off x="1719072" y="1243584"/>
            <a:ext cx="6949440" cy="274320"/>
          </a:xfrm>
          <a:prstGeom prst="rect">
            <a:avLst/>
          </a:prstGeom>
          <a:noFill/>
        </p:spPr>
        <p:txBody>
          <a:bodyPr wrap="square" lIns="0" tIns="0" rIns="0" bIns="0">
            <a:spAutoFit/>
          </a:bodyPr>
          <a:lstStyle/>
          <a:p>
            <a:pPr algn="l"/>
            <a:r>
              <a:rPr sz="1000" b="0">
                <a:solidFill>
                  <a:srgbClr val="212121"/>
                </a:solidFill>
                <a:latin typeface="Meiryo"/>
              </a:rPr>
              <a:t>豚骨ベースで10種類の具材を5時間以上煮込んだこだわりの出汁</a:t>
            </a:r>
          </a:p>
        </p:txBody>
      </p:sp>
      <p:sp>
        <p:nvSpPr>
          <p:cNvPr id="15" name="Rectangle 14"/>
          <p:cNvSpPr/>
          <p:nvPr/>
        </p:nvSpPr>
        <p:spPr>
          <a:xfrm>
            <a:off x="201168" y="1627632"/>
            <a:ext cx="8741664"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1168" y="1627632"/>
            <a:ext cx="1417320" cy="43891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1168" y="1700784"/>
            <a:ext cx="1417320" cy="274320"/>
          </a:xfrm>
          <a:prstGeom prst="rect">
            <a:avLst/>
          </a:prstGeom>
          <a:noFill/>
        </p:spPr>
        <p:txBody>
          <a:bodyPr wrap="square" lIns="0" tIns="0" rIns="0" bIns="0">
            <a:spAutoFit/>
          </a:bodyPr>
          <a:lstStyle/>
          <a:p>
            <a:pPr algn="ctr"/>
            <a:r>
              <a:rPr sz="1100" b="1">
                <a:solidFill>
                  <a:srgbClr val="FFFFFF"/>
                </a:solidFill>
                <a:latin typeface="Meiryo"/>
              </a:rPr>
              <a:t>豚骨</a:t>
            </a:r>
          </a:p>
        </p:txBody>
      </p:sp>
      <p:sp>
        <p:nvSpPr>
          <p:cNvPr id="18" name="TextBox 17"/>
          <p:cNvSpPr txBox="1"/>
          <p:nvPr/>
        </p:nvSpPr>
        <p:spPr>
          <a:xfrm>
            <a:off x="1719072" y="1700784"/>
            <a:ext cx="6949440" cy="274320"/>
          </a:xfrm>
          <a:prstGeom prst="rect">
            <a:avLst/>
          </a:prstGeom>
          <a:noFill/>
        </p:spPr>
        <p:txBody>
          <a:bodyPr wrap="square" lIns="0" tIns="0" rIns="0" bIns="0">
            <a:spAutoFit/>
          </a:bodyPr>
          <a:lstStyle/>
          <a:p>
            <a:pPr algn="l"/>
            <a:r>
              <a:rPr sz="1000" b="0">
                <a:solidFill>
                  <a:srgbClr val="212121"/>
                </a:solidFill>
                <a:latin typeface="Meiryo"/>
              </a:rPr>
              <a:t>鹿児島の黒豚の豚骨。さつまいもを食べた黒豚は脂身が少なく旨味が凝縮</a:t>
            </a:r>
          </a:p>
        </p:txBody>
      </p:sp>
      <p:sp>
        <p:nvSpPr>
          <p:cNvPr id="19" name="Rectangle 18"/>
          <p:cNvSpPr/>
          <p:nvPr/>
        </p:nvSpPr>
        <p:spPr>
          <a:xfrm>
            <a:off x="201168" y="2084832"/>
            <a:ext cx="8741664" cy="4389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01168" y="2084832"/>
            <a:ext cx="1417320" cy="43891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168" y="2157984"/>
            <a:ext cx="1417320" cy="274320"/>
          </a:xfrm>
          <a:prstGeom prst="rect">
            <a:avLst/>
          </a:prstGeom>
          <a:noFill/>
        </p:spPr>
        <p:txBody>
          <a:bodyPr wrap="square" lIns="0" tIns="0" rIns="0" bIns="0">
            <a:spAutoFit/>
          </a:bodyPr>
          <a:lstStyle/>
          <a:p>
            <a:pPr algn="ctr"/>
            <a:r>
              <a:rPr sz="1100" b="1">
                <a:solidFill>
                  <a:srgbClr val="FFFFFF"/>
                </a:solidFill>
                <a:latin typeface="Meiryo"/>
              </a:rPr>
              <a:t>水</a:t>
            </a:r>
          </a:p>
        </p:txBody>
      </p:sp>
      <p:sp>
        <p:nvSpPr>
          <p:cNvPr id="22" name="TextBox 21"/>
          <p:cNvSpPr txBox="1"/>
          <p:nvPr/>
        </p:nvSpPr>
        <p:spPr>
          <a:xfrm>
            <a:off x="1719072" y="2157984"/>
            <a:ext cx="6949440" cy="274320"/>
          </a:xfrm>
          <a:prstGeom prst="rect">
            <a:avLst/>
          </a:prstGeom>
          <a:noFill/>
        </p:spPr>
        <p:txBody>
          <a:bodyPr wrap="square" lIns="0" tIns="0" rIns="0" bIns="0">
            <a:spAutoFit/>
          </a:bodyPr>
          <a:lstStyle/>
          <a:p>
            <a:pPr algn="l"/>
            <a:r>
              <a:rPr sz="1000" b="0">
                <a:solidFill>
                  <a:srgbClr val="212121"/>
                </a:solidFill>
                <a:latin typeface="Meiryo"/>
              </a:rPr>
              <a:t>富士山の源流水（地下40年濾過された超軟水）。雑味がなく出汁の旨味が引き立つ</a:t>
            </a:r>
          </a:p>
        </p:txBody>
      </p:sp>
      <p:sp>
        <p:nvSpPr>
          <p:cNvPr id="23" name="Rectangle 22"/>
          <p:cNvSpPr/>
          <p:nvPr/>
        </p:nvSpPr>
        <p:spPr>
          <a:xfrm>
            <a:off x="201168" y="2542032"/>
            <a:ext cx="8741664"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2542032"/>
            <a:ext cx="1417320" cy="438912"/>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1168" y="2615184"/>
            <a:ext cx="1417320" cy="274320"/>
          </a:xfrm>
          <a:prstGeom prst="rect">
            <a:avLst/>
          </a:prstGeom>
          <a:noFill/>
        </p:spPr>
        <p:txBody>
          <a:bodyPr wrap="square" lIns="0" tIns="0" rIns="0" bIns="0">
            <a:spAutoFit/>
          </a:bodyPr>
          <a:lstStyle/>
          <a:p>
            <a:pPr algn="ctr"/>
            <a:r>
              <a:rPr sz="1100" b="1">
                <a:solidFill>
                  <a:srgbClr val="FFFFFF"/>
                </a:solidFill>
                <a:latin typeface="Meiryo"/>
              </a:rPr>
              <a:t>揚げ玉</a:t>
            </a:r>
          </a:p>
        </p:txBody>
      </p:sp>
      <p:sp>
        <p:nvSpPr>
          <p:cNvPr id="26" name="TextBox 25"/>
          <p:cNvSpPr txBox="1"/>
          <p:nvPr/>
        </p:nvSpPr>
        <p:spPr>
          <a:xfrm>
            <a:off x="1719072" y="2615184"/>
            <a:ext cx="6949440" cy="274320"/>
          </a:xfrm>
          <a:prstGeom prst="rect">
            <a:avLst/>
          </a:prstGeom>
          <a:noFill/>
        </p:spPr>
        <p:txBody>
          <a:bodyPr wrap="square" lIns="0" tIns="0" rIns="0" bIns="0">
            <a:spAutoFit/>
          </a:bodyPr>
          <a:lstStyle/>
          <a:p>
            <a:pPr algn="l"/>
            <a:r>
              <a:rPr sz="1000" b="0">
                <a:solidFill>
                  <a:srgbClr val="212121"/>
                </a:solidFill>
                <a:latin typeface="Meiryo"/>
              </a:rPr>
              <a:t>ミシュラン掲載店・銀座の天ぷら屋の揚げ玉</a:t>
            </a:r>
          </a:p>
        </p:txBody>
      </p:sp>
      <p:sp>
        <p:nvSpPr>
          <p:cNvPr id="27" name="Rectangle 26"/>
          <p:cNvSpPr/>
          <p:nvPr/>
        </p:nvSpPr>
        <p:spPr>
          <a:xfrm>
            <a:off x="201168" y="2999232"/>
            <a:ext cx="8741664" cy="43891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01168" y="2999232"/>
            <a:ext cx="1417320" cy="438912"/>
          </a:xfrm>
          <a:prstGeom prst="rect">
            <a:avLst/>
          </a:prstGeom>
          <a:solidFill>
            <a:srgbClr val="8EC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 y="3072384"/>
            <a:ext cx="1417320" cy="274320"/>
          </a:xfrm>
          <a:prstGeom prst="rect">
            <a:avLst/>
          </a:prstGeom>
          <a:noFill/>
        </p:spPr>
        <p:txBody>
          <a:bodyPr wrap="square" lIns="0" tIns="0" rIns="0" bIns="0">
            <a:spAutoFit/>
          </a:bodyPr>
          <a:lstStyle/>
          <a:p>
            <a:pPr algn="ctr"/>
            <a:r>
              <a:rPr sz="1100" b="1">
                <a:solidFill>
                  <a:srgbClr val="FFFFFF"/>
                </a:solidFill>
                <a:latin typeface="Meiryo"/>
              </a:rPr>
              <a:t>食材</a:t>
            </a:r>
          </a:p>
        </p:txBody>
      </p:sp>
      <p:sp>
        <p:nvSpPr>
          <p:cNvPr id="30" name="TextBox 29"/>
          <p:cNvSpPr txBox="1"/>
          <p:nvPr/>
        </p:nvSpPr>
        <p:spPr>
          <a:xfrm>
            <a:off x="1719072" y="3072384"/>
            <a:ext cx="6949440" cy="274320"/>
          </a:xfrm>
          <a:prstGeom prst="rect">
            <a:avLst/>
          </a:prstGeom>
          <a:noFill/>
        </p:spPr>
        <p:txBody>
          <a:bodyPr wrap="square" lIns="0" tIns="0" rIns="0" bIns="0">
            <a:spAutoFit/>
          </a:bodyPr>
          <a:lstStyle/>
          <a:p>
            <a:pPr algn="l"/>
            <a:r>
              <a:rPr sz="1000" b="0">
                <a:solidFill>
                  <a:srgbClr val="212121"/>
                </a:solidFill>
                <a:latin typeface="Meiryo"/>
              </a:rPr>
              <a:t>豊洲市場老舗の仲卸店と契約。全国各地より厳選した食材</a:t>
            </a:r>
          </a:p>
        </p:txBody>
      </p:sp>
      <p:sp>
        <p:nvSpPr>
          <p:cNvPr id="31" name="Rectangle 30"/>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05</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焼き時会話例（訴求トーク）</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焼き時会話例（訴求トーク）</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82880" y="841248"/>
            <a:ext cx="2907792" cy="24688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 y="868680"/>
            <a:ext cx="2816352" cy="201168"/>
          </a:xfrm>
          <a:prstGeom prst="rect">
            <a:avLst/>
          </a:prstGeom>
          <a:noFill/>
        </p:spPr>
        <p:txBody>
          <a:bodyPr wrap="square" lIns="0" tIns="0" rIns="0" bIns="0">
            <a:spAutoFit/>
          </a:bodyPr>
          <a:lstStyle/>
          <a:p>
            <a:pPr algn="ctr"/>
            <a:r>
              <a:rPr sz="1000" b="1">
                <a:solidFill>
                  <a:srgbClr val="FFFFFF"/>
                </a:solidFill>
                <a:latin typeface="Meiryo"/>
              </a:rPr>
              <a:t>出汁について</a:t>
            </a:r>
          </a:p>
        </p:txBody>
      </p:sp>
      <p:sp>
        <p:nvSpPr>
          <p:cNvPr id="11" name="Rectangle 10"/>
          <p:cNvSpPr/>
          <p:nvPr/>
        </p:nvSpPr>
        <p:spPr>
          <a:xfrm>
            <a:off x="228600" y="114300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5176" y="1143000"/>
            <a:ext cx="2743200" cy="329184"/>
          </a:xfrm>
          <a:prstGeom prst="rect">
            <a:avLst/>
          </a:prstGeom>
          <a:noFill/>
        </p:spPr>
        <p:txBody>
          <a:bodyPr wrap="square" lIns="0" tIns="0" rIns="0" bIns="0">
            <a:spAutoFit/>
          </a:bodyPr>
          <a:lstStyle/>
          <a:p>
            <a:pPr algn="l"/>
            <a:r>
              <a:rPr sz="850" b="0">
                <a:solidFill>
                  <a:srgbClr val="212121"/>
                </a:solidFill>
                <a:latin typeface="Meiryo"/>
              </a:rPr>
              <a:t>・もんじゃの味は出汁と揚げ玉で決まると言われています！</a:t>
            </a:r>
          </a:p>
        </p:txBody>
      </p:sp>
      <p:sp>
        <p:nvSpPr>
          <p:cNvPr id="13" name="Rectangle 12"/>
          <p:cNvSpPr/>
          <p:nvPr/>
        </p:nvSpPr>
        <p:spPr>
          <a:xfrm>
            <a:off x="228600" y="150876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5176" y="1508760"/>
            <a:ext cx="2743200" cy="329184"/>
          </a:xfrm>
          <a:prstGeom prst="rect">
            <a:avLst/>
          </a:prstGeom>
          <a:noFill/>
        </p:spPr>
        <p:txBody>
          <a:bodyPr wrap="square" lIns="0" tIns="0" rIns="0" bIns="0">
            <a:spAutoFit/>
          </a:bodyPr>
          <a:lstStyle/>
          <a:p>
            <a:pPr algn="l"/>
            <a:r>
              <a:rPr sz="850" b="0">
                <a:solidFill>
                  <a:srgbClr val="212121"/>
                </a:solidFill>
                <a:latin typeface="Meiryo"/>
              </a:rPr>
              <a:t>・こぼれやは出汁にこだわっています！</a:t>
            </a:r>
          </a:p>
        </p:txBody>
      </p:sp>
      <p:sp>
        <p:nvSpPr>
          <p:cNvPr id="15" name="Rectangle 14"/>
          <p:cNvSpPr/>
          <p:nvPr/>
        </p:nvSpPr>
        <p:spPr>
          <a:xfrm>
            <a:off x="228600" y="187451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5176" y="1874519"/>
            <a:ext cx="2743200" cy="329184"/>
          </a:xfrm>
          <a:prstGeom prst="rect">
            <a:avLst/>
          </a:prstGeom>
          <a:noFill/>
        </p:spPr>
        <p:txBody>
          <a:bodyPr wrap="square" lIns="0" tIns="0" rIns="0" bIns="0">
            <a:spAutoFit/>
          </a:bodyPr>
          <a:lstStyle/>
          <a:p>
            <a:pPr algn="l"/>
            <a:r>
              <a:rPr sz="850" b="0">
                <a:solidFill>
                  <a:srgbClr val="212121"/>
                </a:solidFill>
                <a:latin typeface="Meiryo"/>
              </a:rPr>
              <a:t>・豚骨ベースで10種類の具材を5時間煮込んでいます！</a:t>
            </a:r>
          </a:p>
        </p:txBody>
      </p:sp>
      <p:sp>
        <p:nvSpPr>
          <p:cNvPr id="17" name="Rectangle 16"/>
          <p:cNvSpPr/>
          <p:nvPr/>
        </p:nvSpPr>
        <p:spPr>
          <a:xfrm>
            <a:off x="228600" y="224027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 y="2240279"/>
            <a:ext cx="2743200" cy="329184"/>
          </a:xfrm>
          <a:prstGeom prst="rect">
            <a:avLst/>
          </a:prstGeom>
          <a:noFill/>
        </p:spPr>
        <p:txBody>
          <a:bodyPr wrap="square" lIns="0" tIns="0" rIns="0" bIns="0">
            <a:spAutoFit/>
          </a:bodyPr>
          <a:lstStyle/>
          <a:p>
            <a:pPr algn="l"/>
            <a:r>
              <a:rPr sz="850" b="0">
                <a:solidFill>
                  <a:srgbClr val="212121"/>
                </a:solidFill>
                <a:latin typeface="Meiryo"/>
              </a:rPr>
              <a:t>・ラーメン屋さんのスープのような作り方をしています！</a:t>
            </a:r>
          </a:p>
        </p:txBody>
      </p:sp>
      <p:sp>
        <p:nvSpPr>
          <p:cNvPr id="19" name="Rectangle 18"/>
          <p:cNvSpPr/>
          <p:nvPr/>
        </p:nvSpPr>
        <p:spPr>
          <a:xfrm>
            <a:off x="3145536"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172968" y="841248"/>
            <a:ext cx="2907792" cy="24688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46120" y="868680"/>
            <a:ext cx="2816352" cy="201168"/>
          </a:xfrm>
          <a:prstGeom prst="rect">
            <a:avLst/>
          </a:prstGeom>
          <a:noFill/>
        </p:spPr>
        <p:txBody>
          <a:bodyPr wrap="square" lIns="0" tIns="0" rIns="0" bIns="0">
            <a:spAutoFit/>
          </a:bodyPr>
          <a:lstStyle/>
          <a:p>
            <a:pPr algn="ctr"/>
            <a:r>
              <a:rPr sz="1000" b="1">
                <a:solidFill>
                  <a:srgbClr val="FFFFFF"/>
                </a:solidFill>
                <a:latin typeface="Meiryo"/>
              </a:rPr>
              <a:t>豚骨について</a:t>
            </a:r>
          </a:p>
        </p:txBody>
      </p:sp>
      <p:sp>
        <p:nvSpPr>
          <p:cNvPr id="22" name="Rectangle 21"/>
          <p:cNvSpPr/>
          <p:nvPr/>
        </p:nvSpPr>
        <p:spPr>
          <a:xfrm>
            <a:off x="3218688" y="114300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55264" y="1143000"/>
            <a:ext cx="2743200" cy="329184"/>
          </a:xfrm>
          <a:prstGeom prst="rect">
            <a:avLst/>
          </a:prstGeom>
          <a:noFill/>
        </p:spPr>
        <p:txBody>
          <a:bodyPr wrap="square" lIns="0" tIns="0" rIns="0" bIns="0">
            <a:spAutoFit/>
          </a:bodyPr>
          <a:lstStyle/>
          <a:p>
            <a:pPr algn="l"/>
            <a:r>
              <a:rPr sz="850" b="0">
                <a:solidFill>
                  <a:srgbClr val="212121"/>
                </a:solidFill>
                <a:latin typeface="Meiryo"/>
              </a:rPr>
              <a:t>・豚骨ベースで出汁を作っています！</a:t>
            </a:r>
          </a:p>
        </p:txBody>
      </p:sp>
      <p:sp>
        <p:nvSpPr>
          <p:cNvPr id="24" name="Rectangle 23"/>
          <p:cNvSpPr/>
          <p:nvPr/>
        </p:nvSpPr>
        <p:spPr>
          <a:xfrm>
            <a:off x="3218688" y="150876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55264" y="1508760"/>
            <a:ext cx="2743200" cy="329184"/>
          </a:xfrm>
          <a:prstGeom prst="rect">
            <a:avLst/>
          </a:prstGeom>
          <a:noFill/>
        </p:spPr>
        <p:txBody>
          <a:bodyPr wrap="square" lIns="0" tIns="0" rIns="0" bIns="0">
            <a:spAutoFit/>
          </a:bodyPr>
          <a:lstStyle/>
          <a:p>
            <a:pPr algn="l"/>
            <a:r>
              <a:rPr sz="850" b="0">
                <a:solidFill>
                  <a:srgbClr val="212121"/>
                </a:solidFill>
                <a:latin typeface="Meiryo"/>
              </a:rPr>
              <a:t>・鹿児島の黒豚の豚骨を使っています！</a:t>
            </a:r>
          </a:p>
        </p:txBody>
      </p:sp>
      <p:sp>
        <p:nvSpPr>
          <p:cNvPr id="26" name="Rectangle 25"/>
          <p:cNvSpPr/>
          <p:nvPr/>
        </p:nvSpPr>
        <p:spPr>
          <a:xfrm>
            <a:off x="3218688" y="187451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55264" y="1874519"/>
            <a:ext cx="2743200" cy="329184"/>
          </a:xfrm>
          <a:prstGeom prst="rect">
            <a:avLst/>
          </a:prstGeom>
          <a:noFill/>
        </p:spPr>
        <p:txBody>
          <a:bodyPr wrap="square" lIns="0" tIns="0" rIns="0" bIns="0">
            <a:spAutoFit/>
          </a:bodyPr>
          <a:lstStyle/>
          <a:p>
            <a:pPr algn="l"/>
            <a:r>
              <a:rPr sz="850" b="0">
                <a:solidFill>
                  <a:srgbClr val="212121"/>
                </a:solidFill>
                <a:latin typeface="Meiryo"/>
              </a:rPr>
              <a:t>・さつまいもを食べた黒豚は脂身が少なく旨味が凝縮！</a:t>
            </a:r>
          </a:p>
        </p:txBody>
      </p:sp>
      <p:sp>
        <p:nvSpPr>
          <p:cNvPr id="28" name="Rectangle 27"/>
          <p:cNvSpPr/>
          <p:nvPr/>
        </p:nvSpPr>
        <p:spPr>
          <a:xfrm>
            <a:off x="3218688" y="224027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55264" y="2240279"/>
            <a:ext cx="2743200" cy="329184"/>
          </a:xfrm>
          <a:prstGeom prst="rect">
            <a:avLst/>
          </a:prstGeom>
          <a:noFill/>
        </p:spPr>
        <p:txBody>
          <a:bodyPr wrap="square" lIns="0" tIns="0" rIns="0" bIns="0">
            <a:spAutoFit/>
          </a:bodyPr>
          <a:lstStyle/>
          <a:p>
            <a:pPr algn="l"/>
            <a:r>
              <a:rPr sz="850" b="0">
                <a:solidFill>
                  <a:srgbClr val="212121"/>
                </a:solidFill>
                <a:latin typeface="Meiryo"/>
              </a:rPr>
              <a:t>・富士山の天然水との相性が良く出汁が美味しくなります！</a:t>
            </a:r>
          </a:p>
        </p:txBody>
      </p:sp>
      <p:sp>
        <p:nvSpPr>
          <p:cNvPr id="30" name="Rectangle 29"/>
          <p:cNvSpPr/>
          <p:nvPr/>
        </p:nvSpPr>
        <p:spPr>
          <a:xfrm>
            <a:off x="6135624" y="841248"/>
            <a:ext cx="13716" cy="409651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63056" y="841248"/>
            <a:ext cx="2907792" cy="246888"/>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36208" y="868680"/>
            <a:ext cx="2816352" cy="201168"/>
          </a:xfrm>
          <a:prstGeom prst="rect">
            <a:avLst/>
          </a:prstGeom>
          <a:noFill/>
        </p:spPr>
        <p:txBody>
          <a:bodyPr wrap="square" lIns="0" tIns="0" rIns="0" bIns="0">
            <a:spAutoFit/>
          </a:bodyPr>
          <a:lstStyle/>
          <a:p>
            <a:pPr algn="ctr"/>
            <a:r>
              <a:rPr sz="1000" b="1">
                <a:solidFill>
                  <a:srgbClr val="FFFFFF"/>
                </a:solidFill>
                <a:latin typeface="Meiryo"/>
              </a:rPr>
              <a:t>水について</a:t>
            </a:r>
          </a:p>
        </p:txBody>
      </p:sp>
      <p:sp>
        <p:nvSpPr>
          <p:cNvPr id="33" name="Rectangle 32"/>
          <p:cNvSpPr/>
          <p:nvPr/>
        </p:nvSpPr>
        <p:spPr>
          <a:xfrm>
            <a:off x="6208776" y="114300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45352" y="1143000"/>
            <a:ext cx="2743200" cy="329184"/>
          </a:xfrm>
          <a:prstGeom prst="rect">
            <a:avLst/>
          </a:prstGeom>
          <a:noFill/>
        </p:spPr>
        <p:txBody>
          <a:bodyPr wrap="square" lIns="0" tIns="0" rIns="0" bIns="0">
            <a:spAutoFit/>
          </a:bodyPr>
          <a:lstStyle/>
          <a:p>
            <a:pPr algn="l"/>
            <a:r>
              <a:rPr sz="850" b="0">
                <a:solidFill>
                  <a:srgbClr val="212121"/>
                </a:solidFill>
                <a:latin typeface="Meiryo"/>
              </a:rPr>
              <a:t>・出汁を作る水は富士山の源流水を使っています！</a:t>
            </a:r>
          </a:p>
        </p:txBody>
      </p:sp>
      <p:sp>
        <p:nvSpPr>
          <p:cNvPr id="35" name="Rectangle 34"/>
          <p:cNvSpPr/>
          <p:nvPr/>
        </p:nvSpPr>
        <p:spPr>
          <a:xfrm>
            <a:off x="6208776" y="1508760"/>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45352" y="1508760"/>
            <a:ext cx="2743200" cy="329184"/>
          </a:xfrm>
          <a:prstGeom prst="rect">
            <a:avLst/>
          </a:prstGeom>
          <a:noFill/>
        </p:spPr>
        <p:txBody>
          <a:bodyPr wrap="square" lIns="0" tIns="0" rIns="0" bIns="0">
            <a:spAutoFit/>
          </a:bodyPr>
          <a:lstStyle/>
          <a:p>
            <a:pPr algn="l"/>
            <a:r>
              <a:rPr sz="850" b="0">
                <a:solidFill>
                  <a:srgbClr val="212121"/>
                </a:solidFill>
                <a:latin typeface="Meiryo"/>
              </a:rPr>
              <a:t>・富士山地下で40年濾過された超軟水です！</a:t>
            </a:r>
          </a:p>
        </p:txBody>
      </p:sp>
      <p:sp>
        <p:nvSpPr>
          <p:cNvPr id="37" name="Rectangle 36"/>
          <p:cNvSpPr/>
          <p:nvPr/>
        </p:nvSpPr>
        <p:spPr>
          <a:xfrm>
            <a:off x="6208776" y="187451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45352" y="1874519"/>
            <a:ext cx="2743200" cy="329184"/>
          </a:xfrm>
          <a:prstGeom prst="rect">
            <a:avLst/>
          </a:prstGeom>
          <a:noFill/>
        </p:spPr>
        <p:txBody>
          <a:bodyPr wrap="square" lIns="0" tIns="0" rIns="0" bIns="0">
            <a:spAutoFit/>
          </a:bodyPr>
          <a:lstStyle/>
          <a:p>
            <a:pPr algn="l"/>
            <a:r>
              <a:rPr sz="850" b="0">
                <a:solidFill>
                  <a:srgbClr val="212121"/>
                </a:solidFill>
                <a:latin typeface="Meiryo"/>
              </a:rPr>
              <a:t>・水道水を使わないもんじゃ屋はこぼれやくらいです！</a:t>
            </a:r>
          </a:p>
        </p:txBody>
      </p:sp>
      <p:sp>
        <p:nvSpPr>
          <p:cNvPr id="39" name="Rectangle 38"/>
          <p:cNvSpPr/>
          <p:nvPr/>
        </p:nvSpPr>
        <p:spPr>
          <a:xfrm>
            <a:off x="6208776" y="2240279"/>
            <a:ext cx="2816352" cy="329184"/>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45352" y="2240279"/>
            <a:ext cx="2743200" cy="329184"/>
          </a:xfrm>
          <a:prstGeom prst="rect">
            <a:avLst/>
          </a:prstGeom>
          <a:noFill/>
        </p:spPr>
        <p:txBody>
          <a:bodyPr wrap="square" lIns="0" tIns="0" rIns="0" bIns="0">
            <a:spAutoFit/>
          </a:bodyPr>
          <a:lstStyle/>
          <a:p>
            <a:pPr algn="l"/>
            <a:r>
              <a:rPr sz="850" b="0">
                <a:solidFill>
                  <a:srgbClr val="212121"/>
                </a:solidFill>
                <a:latin typeface="Meiryo"/>
              </a:rPr>
              <a:t>・超軟水なので雑味がなく出汁の旨味が味わえます！</a:t>
            </a:r>
          </a:p>
        </p:txBody>
      </p:sp>
      <p:sp>
        <p:nvSpPr>
          <p:cNvPr id="41" name="Rectangle 40"/>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486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91440" cy="585216"/>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1168" y="274320"/>
            <a:ext cx="402336" cy="274320"/>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274320"/>
            <a:ext cx="402336" cy="274320"/>
          </a:xfrm>
          <a:prstGeom prst="rect">
            <a:avLst/>
          </a:prstGeom>
          <a:noFill/>
        </p:spPr>
        <p:txBody>
          <a:bodyPr wrap="square" lIns="0" tIns="0" rIns="0" bIns="0">
            <a:spAutoFit/>
          </a:bodyPr>
          <a:lstStyle/>
          <a:p>
            <a:pPr algn="ctr"/>
            <a:r>
              <a:rPr sz="1100" b="1">
                <a:solidFill>
                  <a:srgbClr val="212121"/>
                </a:solidFill>
                <a:latin typeface="Meiryo"/>
              </a:rPr>
              <a:t>05</a:t>
            </a:r>
          </a:p>
        </p:txBody>
      </p:sp>
      <p:sp>
        <p:nvSpPr>
          <p:cNvPr id="6" name="TextBox 5"/>
          <p:cNvSpPr txBox="1"/>
          <p:nvPr/>
        </p:nvSpPr>
        <p:spPr>
          <a:xfrm>
            <a:off x="713232" y="237744"/>
            <a:ext cx="8138160" cy="365760"/>
          </a:xfrm>
          <a:prstGeom prst="rect">
            <a:avLst/>
          </a:prstGeom>
          <a:noFill/>
        </p:spPr>
        <p:txBody>
          <a:bodyPr wrap="square" lIns="0" tIns="0" rIns="0" bIns="0">
            <a:spAutoFit/>
          </a:bodyPr>
          <a:lstStyle/>
          <a:p>
            <a:pPr algn="l"/>
            <a:r>
              <a:rPr sz="1700" b="1">
                <a:solidFill>
                  <a:srgbClr val="212121"/>
                </a:solidFill>
                <a:latin typeface="Meiryo"/>
              </a:rPr>
              <a:t>焼き時に行うこと・注意事項</a:t>
            </a:r>
          </a:p>
        </p:txBody>
      </p:sp>
      <p:sp>
        <p:nvSpPr>
          <p:cNvPr id="7" name="TextBox 6"/>
          <p:cNvSpPr txBox="1"/>
          <p:nvPr/>
        </p:nvSpPr>
        <p:spPr>
          <a:xfrm>
            <a:off x="201168" y="64008"/>
            <a:ext cx="8686800" cy="201168"/>
          </a:xfrm>
          <a:prstGeom prst="rect">
            <a:avLst/>
          </a:prstGeom>
          <a:noFill/>
        </p:spPr>
        <p:txBody>
          <a:bodyPr wrap="square" lIns="0" tIns="0" rIns="0" bIns="0">
            <a:spAutoFit/>
          </a:bodyPr>
          <a:lstStyle/>
          <a:p>
            <a:pPr algn="l"/>
            <a:r>
              <a:rPr sz="750" b="0">
                <a:solidFill>
                  <a:srgbClr val="777777"/>
                </a:solidFill>
                <a:latin typeface="Meiryo"/>
              </a:rPr>
              <a:t>焼き時に行うこと・注意事項</a:t>
            </a:r>
          </a:p>
        </p:txBody>
      </p:sp>
      <p:sp>
        <p:nvSpPr>
          <p:cNvPr id="8" name="Rectangle 7"/>
          <p:cNvSpPr/>
          <p:nvPr/>
        </p:nvSpPr>
        <p:spPr>
          <a:xfrm>
            <a:off x="201168" y="658368"/>
            <a:ext cx="8778240" cy="13716"/>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850392"/>
            <a:ext cx="8741664" cy="237744"/>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868680"/>
            <a:ext cx="8412480" cy="201168"/>
          </a:xfrm>
          <a:prstGeom prst="rect">
            <a:avLst/>
          </a:prstGeom>
          <a:noFill/>
        </p:spPr>
        <p:txBody>
          <a:bodyPr wrap="square" lIns="0" tIns="0" rIns="0" bIns="0">
            <a:spAutoFit/>
          </a:bodyPr>
          <a:lstStyle/>
          <a:p>
            <a:pPr algn="l"/>
            <a:r>
              <a:rPr sz="1100" b="1">
                <a:solidFill>
                  <a:srgbClr val="212121"/>
                </a:solidFill>
                <a:latin typeface="Meiryo"/>
              </a:rPr>
              <a:t>焼き時の基本ルール</a:t>
            </a:r>
          </a:p>
        </p:txBody>
      </p:sp>
      <p:sp>
        <p:nvSpPr>
          <p:cNvPr id="11" name="Rectangle 10"/>
          <p:cNvSpPr/>
          <p:nvPr/>
        </p:nvSpPr>
        <p:spPr>
          <a:xfrm>
            <a:off x="201168" y="1152144"/>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01168" y="1152144"/>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 y="1207008"/>
            <a:ext cx="2103120" cy="256032"/>
          </a:xfrm>
          <a:prstGeom prst="rect">
            <a:avLst/>
          </a:prstGeom>
          <a:noFill/>
        </p:spPr>
        <p:txBody>
          <a:bodyPr wrap="square" lIns="0" tIns="0" rIns="0" bIns="0">
            <a:spAutoFit/>
          </a:bodyPr>
          <a:lstStyle/>
          <a:p>
            <a:pPr algn="ctr"/>
            <a:r>
              <a:rPr sz="1000" b="1">
                <a:solidFill>
                  <a:srgbClr val="212121"/>
                </a:solidFill>
                <a:latin typeface="Meiryo"/>
              </a:rPr>
              <a:t>1回目の焼き</a:t>
            </a:r>
          </a:p>
        </p:txBody>
      </p:sp>
      <p:sp>
        <p:nvSpPr>
          <p:cNvPr id="14" name="TextBox 13"/>
          <p:cNvSpPr txBox="1"/>
          <p:nvPr/>
        </p:nvSpPr>
        <p:spPr>
          <a:xfrm>
            <a:off x="2432304" y="1207008"/>
            <a:ext cx="6400800" cy="256032"/>
          </a:xfrm>
          <a:prstGeom prst="rect">
            <a:avLst/>
          </a:prstGeom>
          <a:noFill/>
        </p:spPr>
        <p:txBody>
          <a:bodyPr wrap="square" lIns="0" tIns="0" rIns="0" bIns="0">
            <a:spAutoFit/>
          </a:bodyPr>
          <a:lstStyle/>
          <a:p>
            <a:pPr algn="l"/>
            <a:r>
              <a:rPr sz="1050" b="0">
                <a:solidFill>
                  <a:srgbClr val="212121"/>
                </a:solidFill>
                <a:latin typeface="Meiryo"/>
              </a:rPr>
              <a:t>5箇条の中から1個伝える（3個焼き以上はOK）</a:t>
            </a:r>
          </a:p>
        </p:txBody>
      </p:sp>
      <p:sp>
        <p:nvSpPr>
          <p:cNvPr id="15" name="Rectangle 14"/>
          <p:cNvSpPr/>
          <p:nvPr/>
        </p:nvSpPr>
        <p:spPr>
          <a:xfrm>
            <a:off x="201168" y="1536192"/>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1168" y="1536192"/>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1168" y="1591056"/>
            <a:ext cx="2103120" cy="256032"/>
          </a:xfrm>
          <a:prstGeom prst="rect">
            <a:avLst/>
          </a:prstGeom>
          <a:noFill/>
        </p:spPr>
        <p:txBody>
          <a:bodyPr wrap="square" lIns="0" tIns="0" rIns="0" bIns="0">
            <a:spAutoFit/>
          </a:bodyPr>
          <a:lstStyle/>
          <a:p>
            <a:pPr algn="ctr"/>
            <a:r>
              <a:rPr sz="1000" b="1">
                <a:solidFill>
                  <a:srgbClr val="212121"/>
                </a:solidFill>
                <a:latin typeface="Meiryo"/>
              </a:rPr>
              <a:t>お客様の状態</a:t>
            </a:r>
          </a:p>
        </p:txBody>
      </p:sp>
      <p:sp>
        <p:nvSpPr>
          <p:cNvPr id="18" name="TextBox 17"/>
          <p:cNvSpPr txBox="1"/>
          <p:nvPr/>
        </p:nvSpPr>
        <p:spPr>
          <a:xfrm>
            <a:off x="2432304" y="1591056"/>
            <a:ext cx="6400800" cy="256032"/>
          </a:xfrm>
          <a:prstGeom prst="rect">
            <a:avLst/>
          </a:prstGeom>
          <a:noFill/>
        </p:spPr>
        <p:txBody>
          <a:bodyPr wrap="square" lIns="0" tIns="0" rIns="0" bIns="0">
            <a:spAutoFit/>
          </a:bodyPr>
          <a:lstStyle/>
          <a:p>
            <a:pPr algn="l"/>
            <a:r>
              <a:rPr sz="1050" b="0">
                <a:solidFill>
                  <a:srgbClr val="212121"/>
                </a:solidFill>
                <a:latin typeface="Meiryo"/>
              </a:rPr>
              <a:t>お客様同士で会話をしている場合は伝えなくても良い</a:t>
            </a:r>
          </a:p>
        </p:txBody>
      </p:sp>
      <p:sp>
        <p:nvSpPr>
          <p:cNvPr id="19" name="Rectangle 18"/>
          <p:cNvSpPr/>
          <p:nvPr/>
        </p:nvSpPr>
        <p:spPr>
          <a:xfrm>
            <a:off x="201168" y="1920240"/>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01168" y="1920240"/>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168" y="1975104"/>
            <a:ext cx="2103120" cy="256032"/>
          </a:xfrm>
          <a:prstGeom prst="rect">
            <a:avLst/>
          </a:prstGeom>
          <a:noFill/>
        </p:spPr>
        <p:txBody>
          <a:bodyPr wrap="square" lIns="0" tIns="0" rIns="0" bIns="0">
            <a:spAutoFit/>
          </a:bodyPr>
          <a:lstStyle/>
          <a:p>
            <a:pPr algn="ctr"/>
            <a:r>
              <a:rPr sz="1000" b="1">
                <a:solidFill>
                  <a:srgbClr val="212121"/>
                </a:solidFill>
                <a:latin typeface="Meiryo"/>
              </a:rPr>
              <a:t>ビジネス会食</a:t>
            </a:r>
          </a:p>
        </p:txBody>
      </p:sp>
      <p:sp>
        <p:nvSpPr>
          <p:cNvPr id="22" name="TextBox 21"/>
          <p:cNvSpPr txBox="1"/>
          <p:nvPr/>
        </p:nvSpPr>
        <p:spPr>
          <a:xfrm>
            <a:off x="2432304" y="1975104"/>
            <a:ext cx="6400800" cy="256032"/>
          </a:xfrm>
          <a:prstGeom prst="rect">
            <a:avLst/>
          </a:prstGeom>
          <a:noFill/>
        </p:spPr>
        <p:txBody>
          <a:bodyPr wrap="square" lIns="0" tIns="0" rIns="0" bIns="0">
            <a:spAutoFit/>
          </a:bodyPr>
          <a:lstStyle/>
          <a:p>
            <a:pPr algn="l"/>
            <a:r>
              <a:rPr sz="1050" b="0">
                <a:solidFill>
                  <a:srgbClr val="212121"/>
                </a:solidFill>
                <a:latin typeface="Meiryo"/>
              </a:rPr>
              <a:t>ビジネスマンの会食は特に気を付ける</a:t>
            </a:r>
          </a:p>
        </p:txBody>
      </p:sp>
      <p:sp>
        <p:nvSpPr>
          <p:cNvPr id="23" name="Rectangle 22"/>
          <p:cNvSpPr/>
          <p:nvPr/>
        </p:nvSpPr>
        <p:spPr>
          <a:xfrm>
            <a:off x="201168" y="2304288"/>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1168" y="2304288"/>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1168" y="2359152"/>
            <a:ext cx="2103120" cy="256032"/>
          </a:xfrm>
          <a:prstGeom prst="rect">
            <a:avLst/>
          </a:prstGeom>
          <a:noFill/>
        </p:spPr>
        <p:txBody>
          <a:bodyPr wrap="square" lIns="0" tIns="0" rIns="0" bIns="0">
            <a:spAutoFit/>
          </a:bodyPr>
          <a:lstStyle/>
          <a:p>
            <a:pPr algn="ctr"/>
            <a:r>
              <a:rPr sz="1000" b="1">
                <a:solidFill>
                  <a:srgbClr val="212121"/>
                </a:solidFill>
                <a:latin typeface="Meiryo"/>
              </a:rPr>
              <a:t>焼き前の声かけ</a:t>
            </a:r>
          </a:p>
        </p:txBody>
      </p:sp>
      <p:sp>
        <p:nvSpPr>
          <p:cNvPr id="26" name="TextBox 25"/>
          <p:cNvSpPr txBox="1"/>
          <p:nvPr/>
        </p:nvSpPr>
        <p:spPr>
          <a:xfrm>
            <a:off x="2432304" y="2359152"/>
            <a:ext cx="6400800" cy="256032"/>
          </a:xfrm>
          <a:prstGeom prst="rect">
            <a:avLst/>
          </a:prstGeom>
          <a:noFill/>
        </p:spPr>
        <p:txBody>
          <a:bodyPr wrap="square" lIns="0" tIns="0" rIns="0" bIns="0">
            <a:spAutoFit/>
          </a:bodyPr>
          <a:lstStyle/>
          <a:p>
            <a:pPr algn="l"/>
            <a:r>
              <a:rPr sz="1050" b="0">
                <a:solidFill>
                  <a:srgbClr val="212121"/>
                </a:solidFill>
                <a:latin typeface="Meiryo"/>
              </a:rPr>
              <a:t>「お焼き致しますか」と必ず声をかけてから焼く</a:t>
            </a:r>
          </a:p>
        </p:txBody>
      </p:sp>
      <p:sp>
        <p:nvSpPr>
          <p:cNvPr id="27" name="Rectangle 26"/>
          <p:cNvSpPr/>
          <p:nvPr/>
        </p:nvSpPr>
        <p:spPr>
          <a:xfrm>
            <a:off x="201168" y="2688336"/>
            <a:ext cx="8741664" cy="36576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01168" y="2688336"/>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 y="2743200"/>
            <a:ext cx="2103120" cy="256032"/>
          </a:xfrm>
          <a:prstGeom prst="rect">
            <a:avLst/>
          </a:prstGeom>
          <a:noFill/>
        </p:spPr>
        <p:txBody>
          <a:bodyPr wrap="square" lIns="0" tIns="0" rIns="0" bIns="0">
            <a:spAutoFit/>
          </a:bodyPr>
          <a:lstStyle/>
          <a:p>
            <a:pPr algn="ctr"/>
            <a:r>
              <a:rPr sz="1000" b="1">
                <a:solidFill>
                  <a:srgbClr val="212121"/>
                </a:solidFill>
                <a:latin typeface="Meiryo"/>
              </a:rPr>
              <a:t>離れる時</a:t>
            </a:r>
          </a:p>
        </p:txBody>
      </p:sp>
      <p:sp>
        <p:nvSpPr>
          <p:cNvPr id="30" name="TextBox 29"/>
          <p:cNvSpPr txBox="1"/>
          <p:nvPr/>
        </p:nvSpPr>
        <p:spPr>
          <a:xfrm>
            <a:off x="2432304" y="2743200"/>
            <a:ext cx="6400800" cy="256032"/>
          </a:xfrm>
          <a:prstGeom prst="rect">
            <a:avLst/>
          </a:prstGeom>
          <a:noFill/>
        </p:spPr>
        <p:txBody>
          <a:bodyPr wrap="square" lIns="0" tIns="0" rIns="0" bIns="0">
            <a:spAutoFit/>
          </a:bodyPr>
          <a:lstStyle/>
          <a:p>
            <a:pPr algn="l"/>
            <a:r>
              <a:rPr sz="1050" b="0">
                <a:solidFill>
                  <a:srgbClr val="212121"/>
                </a:solidFill>
                <a:latin typeface="Meiryo"/>
              </a:rPr>
              <a:t>無言で席を離れない。一声かけてから離れる</a:t>
            </a:r>
          </a:p>
        </p:txBody>
      </p:sp>
      <p:sp>
        <p:nvSpPr>
          <p:cNvPr id="31" name="Rectangle 30"/>
          <p:cNvSpPr/>
          <p:nvPr/>
        </p:nvSpPr>
        <p:spPr>
          <a:xfrm>
            <a:off x="201168" y="3072384"/>
            <a:ext cx="8741664"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01168" y="3072384"/>
            <a:ext cx="2103120" cy="365760"/>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1168" y="3127248"/>
            <a:ext cx="2103120" cy="256032"/>
          </a:xfrm>
          <a:prstGeom prst="rect">
            <a:avLst/>
          </a:prstGeom>
          <a:noFill/>
        </p:spPr>
        <p:txBody>
          <a:bodyPr wrap="square" lIns="0" tIns="0" rIns="0" bIns="0">
            <a:spAutoFit/>
          </a:bodyPr>
          <a:lstStyle/>
          <a:p>
            <a:pPr algn="ctr"/>
            <a:r>
              <a:rPr sz="1000" b="1">
                <a:solidFill>
                  <a:srgbClr val="212121"/>
                </a:solidFill>
                <a:latin typeface="Meiryo"/>
              </a:rPr>
              <a:t>会話の姿勢</a:t>
            </a:r>
          </a:p>
        </p:txBody>
      </p:sp>
      <p:sp>
        <p:nvSpPr>
          <p:cNvPr id="34" name="TextBox 33"/>
          <p:cNvSpPr txBox="1"/>
          <p:nvPr/>
        </p:nvSpPr>
        <p:spPr>
          <a:xfrm>
            <a:off x="2432304" y="3127248"/>
            <a:ext cx="6400800" cy="256032"/>
          </a:xfrm>
          <a:prstGeom prst="rect">
            <a:avLst/>
          </a:prstGeom>
          <a:noFill/>
        </p:spPr>
        <p:txBody>
          <a:bodyPr wrap="square" lIns="0" tIns="0" rIns="0" bIns="0">
            <a:spAutoFit/>
          </a:bodyPr>
          <a:lstStyle/>
          <a:p>
            <a:pPr algn="l"/>
            <a:r>
              <a:rPr sz="1050" b="0">
                <a:solidFill>
                  <a:srgbClr val="212121"/>
                </a:solidFill>
                <a:latin typeface="Meiryo"/>
              </a:rPr>
              <a:t>笑顔で積極的に会話する。お客様同士の会話中は待つ</a:t>
            </a:r>
          </a:p>
        </p:txBody>
      </p:sp>
      <p:sp>
        <p:nvSpPr>
          <p:cNvPr id="35" name="Rectangle 34"/>
          <p:cNvSpPr/>
          <p:nvPr/>
        </p:nvSpPr>
        <p:spPr>
          <a:xfrm>
            <a:off x="0" y="5047488"/>
            <a:ext cx="9144000" cy="96012"/>
          </a:xfrm>
          <a:prstGeom prst="rect">
            <a:avLst/>
          </a:prstGeom>
          <a:solidFill>
            <a:srgbClr val="FC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03920" y="4818888"/>
            <a:ext cx="594360" cy="219456"/>
          </a:xfrm>
          <a:prstGeom prst="rect">
            <a:avLst/>
          </a:prstGeom>
          <a:noFill/>
        </p:spPr>
        <p:txBody>
          <a:bodyPr wrap="square" lIns="0" tIns="0" rIns="0" bIns="0">
            <a:spAutoFit/>
          </a:bodyPr>
          <a:lstStyle/>
          <a:p>
            <a:pPr algn="ctr"/>
            <a:r>
              <a:rPr sz="800" b="0">
                <a:solidFill>
                  <a:srgbClr val="D4A800"/>
                </a:solidFill>
                <a:latin typeface="Meiryo"/>
              </a:rPr>
              <a:t>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C80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65776"/>
            <a:ext cx="9144000" cy="77724"/>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36370"/>
            <a:ext cx="8229600" cy="457200"/>
          </a:xfrm>
          <a:prstGeom prst="rect">
            <a:avLst/>
          </a:prstGeom>
          <a:noFill/>
        </p:spPr>
        <p:txBody>
          <a:bodyPr wrap="square" lIns="0" tIns="0" rIns="0" bIns="0">
            <a:spAutoFit/>
          </a:bodyPr>
          <a:lstStyle/>
          <a:p>
            <a:pPr algn="ctr"/>
            <a:r>
              <a:rPr sz="1600" b="0">
                <a:solidFill>
                  <a:srgbClr val="212121"/>
                </a:solidFill>
                <a:latin typeface="Meiryo"/>
              </a:rPr>
              <a:t>こ ぼ れ や</a:t>
            </a:r>
          </a:p>
        </p:txBody>
      </p:sp>
      <p:sp>
        <p:nvSpPr>
          <p:cNvPr id="5" name="TextBox 4"/>
          <p:cNvSpPr txBox="1"/>
          <p:nvPr/>
        </p:nvSpPr>
        <p:spPr>
          <a:xfrm>
            <a:off x="457200" y="1939290"/>
            <a:ext cx="8229600" cy="1188720"/>
          </a:xfrm>
          <a:prstGeom prst="rect">
            <a:avLst/>
          </a:prstGeom>
          <a:noFill/>
        </p:spPr>
        <p:txBody>
          <a:bodyPr wrap="square" lIns="0" tIns="0" rIns="0" bIns="0">
            <a:spAutoFit/>
          </a:bodyPr>
          <a:lstStyle/>
          <a:p>
            <a:pPr algn="ctr"/>
            <a:r>
              <a:rPr sz="2600" b="1">
                <a:solidFill>
                  <a:srgbClr val="212121"/>
                </a:solidFill>
                <a:latin typeface="Meiryo"/>
              </a:rPr>
              <a:t>全てのお客様に
こぼれやの魅力を伝え、魅了する。</a:t>
            </a:r>
          </a:p>
        </p:txBody>
      </p:sp>
      <p:sp>
        <p:nvSpPr>
          <p:cNvPr id="6" name="Rectangle 5"/>
          <p:cNvSpPr/>
          <p:nvPr/>
        </p:nvSpPr>
        <p:spPr>
          <a:xfrm>
            <a:off x="3291840" y="3292602"/>
            <a:ext cx="2560320" cy="36576"/>
          </a:xfrm>
          <a:prstGeom prst="rect">
            <a:avLst/>
          </a:prstGeom>
          <a:solidFill>
            <a:srgbClr val="D4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3420618"/>
            <a:ext cx="8229600" cy="420624"/>
          </a:xfrm>
          <a:prstGeom prst="rect">
            <a:avLst/>
          </a:prstGeom>
          <a:noFill/>
        </p:spPr>
        <p:txBody>
          <a:bodyPr wrap="square" lIns="0" tIns="0" rIns="0" bIns="0">
            <a:spAutoFit/>
          </a:bodyPr>
          <a:lstStyle/>
          <a:p>
            <a:pPr algn="ctr"/>
            <a:r>
              <a:rPr sz="1300" b="0">
                <a:solidFill>
                  <a:srgbClr val="212121"/>
                </a:solidFill>
                <a:latin typeface="Meiryo"/>
              </a:rPr>
              <a:t>株式会社 delta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1661</Words>
  <Application>Microsoft Macintosh PowerPoint</Application>
  <PresentationFormat>画面に合わせる (16:9)</PresentationFormat>
  <Paragraphs>585</Paragraphs>
  <Slides>32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32</vt:i4>
      </vt:variant>
    </vt:vector>
  </HeadingPairs>
  <TitlesOfParts>
    <vt:vector size="36" baseType="lpstr">
      <vt:lpstr>Meiryo</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SATOSHI KUNO</cp:lastModifiedBy>
  <cp:revision>3</cp:revision>
  <dcterms:created xsi:type="dcterms:W3CDTF">2013-01-27T09:14:16Z</dcterms:created>
  <dcterms:modified xsi:type="dcterms:W3CDTF">2026-03-07T08:26:04Z</dcterms:modified>
  <cp:category/>
</cp:coreProperties>
</file>